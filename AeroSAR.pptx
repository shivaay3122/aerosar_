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f72ad5d-519e-f51c-ea40-9de3293d8640}">
          <p14:sldIdLst>
            <p14:sldId id="256"/>
          </p14:sldIdLst>
        </p14:section>
        <p14:section name="Problem &amp; Solution" id="{1f274301-f5b4-cb43-3d00-f0e229fe9e1b}">
          <p14:sldIdLst>
            <p14:sldId id="257"/>
            <p14:sldId id="258"/>
          </p14:sldIdLst>
        </p14:section>
        <p14:section name="The Engine" id="{a5016f7d-9599-9ad0-0087-f52b3386b9a4}">
          <p14:sldIdLst>
            <p14:sldId id="259"/>
            <p14:sldId id="260"/>
          </p14:sldIdLst>
        </p14:section>
        <p14:section name="Delivery" id="{afcbd018-a12f-aa56-056e-708850de1109}">
          <p14:sldIdLst>
            <p14:sldId id="261"/>
            <p14:sldId id="262"/>
          </p14:sldIdLst>
        </p14:section>
        <p14:section name="Close" id="{6691cd3d-2967-d204-c1d3-8f4e6b5b9420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probability</c:v>
                </c:pt>
              </c:strCache>
            </c:strRef>
          </c:tx>
          <c:spPr>
            <a:solidFill>
              <a:srgbClr val="38BDF8"/>
            </a:solidFill>
            <a:ln w="44450" cap="flat">
              <a:solidFill>
                <a:srgbClr val="38BDF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0h</c:v>
                  </c:pt>
                  <c:pt idx="1">
                    <c:v>6h</c:v>
                  </c:pt>
                  <c:pt idx="2">
                    <c:v>12h</c:v>
                  </c:pt>
                  <c:pt idx="3">
                    <c:v>18h</c:v>
                  </c:pt>
                  <c:pt idx="4">
                    <c:v>24h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82</c:v>
                </c:pt>
                <c:pt idx="2">
                  <c:v>58</c:v>
                </c:pt>
                <c:pt idx="3">
                  <c:v>34</c:v>
                </c:pt>
                <c:pt idx="4">
                  <c:v>18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hook: AeroSAR turns a Last Known Position into probability-ranked search zones. Built for the Hackathon 2026 Deep-Tech Track on IAMSAR standards. The rings on the right grow outward just like the search area does as uncertainty grows.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Survival is a clock. Manual drift and dead-reckoning math is slow and error-prone under stress, and vague areas send teams to the wrong place. The curve is illustrative: the longer the delay, the lower the odds.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inputs go in: LKP, TAS, heading, fuel state and winds aloft. The engine computes datum, drift, error growth and a Monte Carlo cloud, and returns live probability polygons on an interactive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building blocks. One: project the datum from the LKP using heading and ground speed. Two: add the wind vector to shift the centre of the zone downwind. Three: an error ellipse that grows with time to cover navigation and fuel uncertainty. The diagram builds in that same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a basic radius: a Monte Carlo cloud of thousands of simulated flight paths, a Bayesian grid that down-weights cells once teams report negative coverage, and a multi-phase drift model that handles powered cruise, glide and surface drift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stack: Streamlit, Leaflet and Folium for the dashboard and map rendering; Python with NumPy, GeoPy and Shapely for the geospatial maths; live aviation weather APIs for winds aloft. The six-step pipeline runs from ingest to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workflow is three steps. Enter flight parameters, the engine computes drift vectors and 50/90 percent confidence intervals in the background, and one click exports the search polygon as GPX, KML or GeoJSON for aircraft navigation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Now: a working prototype, tested on simulated flight profiles. Next: plug into Civil Air Patrol operations or flight-tracking apps. Future: automatic feeds from radar telemetry and satellite emergency beacons.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mission: faster, more precise search zones mean faster saves. Open the floor for questions and technical deep dives.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tx2"/>
                </a:solidFill>
              </a:rPr>
              <a:t>AEROSAR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9164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035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1"/>
          <p:cNvSpPr/>
          <p:nvPr/>
        </p:nvSpPr>
        <p:spPr>
          <a:xfrm>
            <a:off x="6903720" y="1097280"/>
            <a:ext cx="4663440" cy="4663440"/>
          </a:xfrm>
          <a:prstGeom prst="ellipse">
            <a:avLst/>
          </a:prstGeom>
          <a:solidFill>
            <a:schemeClr val="accent1">
              <a:alpha val="6000"/>
            </a:schemeClr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3" name="Anim 2"/>
          <p:cNvSpPr/>
          <p:nvPr/>
        </p:nvSpPr>
        <p:spPr>
          <a:xfrm>
            <a:off x="7680960" y="1874520"/>
            <a:ext cx="3108960" cy="3108960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4" name="Anim 3"/>
          <p:cNvSpPr/>
          <p:nvPr/>
        </p:nvSpPr>
        <p:spPr>
          <a:xfrm>
            <a:off x="8458200" y="2651760"/>
            <a:ext cx="1554480" cy="1554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" name="Anim 4"/>
          <p:cNvSpPr/>
          <p:nvPr/>
        </p:nvSpPr>
        <p:spPr>
          <a:xfrm>
            <a:off x="6903720" y="3429000"/>
            <a:ext cx="46634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dash"/>
          </a:ln>
        </p:spPr>
      </p:sp>
      <p:sp>
        <p:nvSpPr>
          <p:cNvPr id="6" name="Anim 5"/>
          <p:cNvSpPr/>
          <p:nvPr/>
        </p:nvSpPr>
        <p:spPr>
          <a:xfrm>
            <a:off x="9235440" y="1097280"/>
            <a:ext cx="0" cy="46634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dash"/>
          </a:ln>
        </p:spPr>
      </p:sp>
      <p:sp>
        <p:nvSpPr>
          <p:cNvPr id="7" name="Anim 6"/>
          <p:cNvSpPr/>
          <p:nvPr/>
        </p:nvSpPr>
        <p:spPr>
          <a:xfrm flipH="1">
            <a:off x="9235440" y="2331720"/>
            <a:ext cx="1234440" cy="109728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8" name="Anim 7"/>
          <p:cNvSpPr/>
          <p:nvPr/>
        </p:nvSpPr>
        <p:spPr>
          <a:xfrm>
            <a:off x="9134856" y="3328416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Anim 8"/>
          <p:cNvSpPr txBox="1"/>
          <p:nvPr/>
        </p:nvSpPr>
        <p:spPr>
          <a:xfrm>
            <a:off x="9400032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DATUM</a:t>
            </a:r>
            <a:endParaRPr lang="en-US" sz="1200" dirty="0"/>
          </a:p>
        </p:txBody>
      </p:sp>
      <p:sp>
        <p:nvSpPr>
          <p:cNvPr id="10" name="Anim 9"/>
          <p:cNvSpPr/>
          <p:nvPr/>
        </p:nvSpPr>
        <p:spPr>
          <a:xfrm>
            <a:off x="10378440" y="224028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Anim 10"/>
          <p:cNvSpPr txBox="1"/>
          <p:nvPr/>
        </p:nvSpPr>
        <p:spPr>
          <a:xfrm>
            <a:off x="10607040" y="2167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LKP</a:t>
            </a:r>
            <a:endParaRPr lang="en-US" sz="1200" dirty="0"/>
          </a:p>
        </p:txBody>
      </p:sp>
      <p:sp>
        <p:nvSpPr>
          <p:cNvPr id="12" name="Anim 11"/>
          <p:cNvSpPr txBox="1"/>
          <p:nvPr/>
        </p:nvSpPr>
        <p:spPr>
          <a:xfrm>
            <a:off x="731520" y="1143000"/>
            <a:ext cx="384048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HACKATHON 2026  ·  DEEP-TECH TRACK</a:t>
            </a:r>
            <a:endParaRPr lang="en-US" sz="12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731520" y="16916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AeroSAR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Algorithmic Search &amp; Rescue</a:t>
            </a:r>
            <a:endParaRPr lang="en-US" sz="3400" dirty="0"/>
          </a:p>
        </p:txBody>
      </p:sp>
      <p:sp>
        <p:nvSpPr>
          <p:cNvPr id="14" name="Text 0"/>
          <p:cNvSpPr/>
          <p:nvPr>
            <p:ph idx="101" type="body" hasCustomPrompt="1"/>
          </p:nvPr>
        </p:nvSpPr>
        <p:spPr>
          <a:xfrm>
            <a:off x="731520" y="379476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Transforming Last Known Positions into Precision Search Zones for Faster Saves.</a:t>
            </a:r>
            <a:endParaRPr lang="en-US" sz="2000" dirty="0"/>
          </a:p>
        </p:txBody>
      </p:sp>
      <p:sp>
        <p:nvSpPr>
          <p:cNvPr id="15" name="Anim 14"/>
          <p:cNvSpPr/>
          <p:nvPr/>
        </p:nvSpPr>
        <p:spPr>
          <a:xfrm>
            <a:off x="731520" y="5074920"/>
            <a:ext cx="19659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Anim 15"/>
          <p:cNvSpPr txBox="1"/>
          <p:nvPr/>
        </p:nvSpPr>
        <p:spPr>
          <a:xfrm>
            <a:off x="914400" y="5166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MODE</a:t>
            </a:r>
            <a:endParaRPr lang="en-US" sz="1000" dirty="0"/>
          </a:p>
        </p:txBody>
      </p:sp>
      <p:sp>
        <p:nvSpPr>
          <p:cNvPr id="17" name="Anim 16"/>
          <p:cNvSpPr txBox="1"/>
          <p:nvPr/>
        </p:nvSpPr>
        <p:spPr>
          <a:xfrm>
            <a:off x="914400" y="54223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SAR-ENGINE</a:t>
            </a:r>
            <a:endParaRPr lang="en-US" sz="1400" dirty="0"/>
          </a:p>
        </p:txBody>
      </p:sp>
      <p:sp>
        <p:nvSpPr>
          <p:cNvPr id="18" name="Anim 17"/>
          <p:cNvSpPr/>
          <p:nvPr/>
        </p:nvSpPr>
        <p:spPr>
          <a:xfrm>
            <a:off x="2834640" y="5074920"/>
            <a:ext cx="19659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Anim 18"/>
          <p:cNvSpPr txBox="1"/>
          <p:nvPr/>
        </p:nvSpPr>
        <p:spPr>
          <a:xfrm>
            <a:off x="3017520" y="5166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STANDARD</a:t>
            </a:r>
            <a:endParaRPr lang="en-US" sz="1000" dirty="0"/>
          </a:p>
        </p:txBody>
      </p:sp>
      <p:sp>
        <p:nvSpPr>
          <p:cNvPr id="20" name="Anim 19"/>
          <p:cNvSpPr txBox="1"/>
          <p:nvPr/>
        </p:nvSpPr>
        <p:spPr>
          <a:xfrm>
            <a:off x="3017520" y="54223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IAMSAR</a:t>
            </a:r>
            <a:endParaRPr lang="en-US" sz="1400" dirty="0"/>
          </a:p>
        </p:txBody>
      </p:sp>
      <p:sp>
        <p:nvSpPr>
          <p:cNvPr id="21" name="Anim 20"/>
          <p:cNvSpPr/>
          <p:nvPr/>
        </p:nvSpPr>
        <p:spPr>
          <a:xfrm>
            <a:off x="4937760" y="5074920"/>
            <a:ext cx="19659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Anim 21"/>
          <p:cNvSpPr txBox="1"/>
          <p:nvPr/>
        </p:nvSpPr>
        <p:spPr>
          <a:xfrm>
            <a:off x="5120640" y="5166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OUTPUT</a:t>
            </a:r>
            <a:endParaRPr lang="en-US" sz="1000" dirty="0"/>
          </a:p>
        </p:txBody>
      </p:sp>
      <p:sp>
        <p:nvSpPr>
          <p:cNvPr id="23" name="Anim 22"/>
          <p:cNvSpPr txBox="1"/>
          <p:nvPr/>
        </p:nvSpPr>
        <p:spPr>
          <a:xfrm>
            <a:off x="5120640" y="54223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PROB. POLYGONS</a:t>
            </a:r>
            <a:endParaRPr lang="en-US" sz="1400" dirty="0"/>
          </a:p>
        </p:txBody>
      </p:sp>
      <p:sp>
        <p:nvSpPr>
          <p:cNvPr id="24" name="Anim 23"/>
          <p:cNvSpPr txBox="1"/>
          <p:nvPr/>
        </p:nvSpPr>
        <p:spPr>
          <a:xfrm>
            <a:off x="731520" y="6172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LKP 34°03′N 118°15′W  ·  HDG 247°  ·  TAS 140 KT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02  THE PROBLEM: EVERY MINUTE COUNTS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Cost of a Vague Search Area</a:t>
            </a:r>
            <a:endParaRPr lang="en-US" sz="3600" dirty="0"/>
          </a:p>
        </p:txBody>
      </p:sp>
      <p:sp>
        <p:nvSpPr>
          <p:cNvPr id="4" name="Anim 26"/>
          <p:cNvSpPr/>
          <p:nvPr/>
        </p:nvSpPr>
        <p:spPr>
          <a:xfrm>
            <a:off x="548640" y="1920240"/>
            <a:ext cx="56692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Anim 27"/>
          <p:cNvSpPr/>
          <p:nvPr/>
        </p:nvSpPr>
        <p:spPr>
          <a:xfrm>
            <a:off x="777240" y="2240280"/>
            <a:ext cx="640080" cy="640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Anim 2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404872"/>
            <a:ext cx="310896" cy="310896"/>
          </a:xfrm>
          <a:prstGeom prst="rect">
            <a:avLst/>
          </a:prstGeom>
        </p:spPr>
      </p:pic>
      <p:sp>
        <p:nvSpPr>
          <p:cNvPr id="7" name="Anim 29"/>
          <p:cNvSpPr txBox="1"/>
          <p:nvPr/>
        </p:nvSpPr>
        <p:spPr>
          <a:xfrm>
            <a:off x="1691640" y="207568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Survival is a clock.</a:t>
            </a:r>
            <a:endParaRPr lang="en-US" sz="1800" dirty="0"/>
          </a:p>
        </p:txBody>
      </p:sp>
      <p:sp>
        <p:nvSpPr>
          <p:cNvPr id="8" name="Anim 30"/>
          <p:cNvSpPr txBox="1"/>
          <p:nvPr/>
        </p:nvSpPr>
        <p:spPr>
          <a:xfrm>
            <a:off x="1691640" y="24231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When contact with an aircraft is lost, survival rates drop drastically with every passing hour.</a:t>
            </a:r>
            <a:endParaRPr lang="en-US" sz="1400" dirty="0"/>
          </a:p>
        </p:txBody>
      </p:sp>
      <p:sp>
        <p:nvSpPr>
          <p:cNvPr id="9" name="Anim 31"/>
          <p:cNvSpPr/>
          <p:nvPr/>
        </p:nvSpPr>
        <p:spPr>
          <a:xfrm>
            <a:off x="548640" y="3383280"/>
            <a:ext cx="56692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Anim 32"/>
          <p:cNvSpPr/>
          <p:nvPr/>
        </p:nvSpPr>
        <p:spPr>
          <a:xfrm>
            <a:off x="777240" y="3703320"/>
            <a:ext cx="640080" cy="640080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Anim 3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867912"/>
            <a:ext cx="310896" cy="310896"/>
          </a:xfrm>
          <a:prstGeom prst="rect">
            <a:avLst/>
          </a:prstGeom>
        </p:spPr>
      </p:pic>
      <p:sp>
        <p:nvSpPr>
          <p:cNvPr id="12" name="Anim 34"/>
          <p:cNvSpPr txBox="1"/>
          <p:nvPr/>
        </p:nvSpPr>
        <p:spPr>
          <a:xfrm>
            <a:off x="1691640" y="353872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Manual math under pressure.</a:t>
            </a:r>
            <a:endParaRPr lang="en-US" sz="1800" dirty="0"/>
          </a:p>
        </p:txBody>
      </p:sp>
      <p:sp>
        <p:nvSpPr>
          <p:cNvPr id="13" name="Anim 35"/>
          <p:cNvSpPr txBox="1"/>
          <p:nvPr/>
        </p:nvSpPr>
        <p:spPr>
          <a:xfrm>
            <a:off x="1691640" y="38862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Current manual calculations for drift and dead reckoning are slow and prone to human error under high stress.</a:t>
            </a:r>
            <a:endParaRPr lang="en-US" sz="1400" dirty="0"/>
          </a:p>
        </p:txBody>
      </p:sp>
      <p:sp>
        <p:nvSpPr>
          <p:cNvPr id="14" name="Anim 36"/>
          <p:cNvSpPr/>
          <p:nvPr/>
        </p:nvSpPr>
        <p:spPr>
          <a:xfrm>
            <a:off x="548640" y="4846320"/>
            <a:ext cx="56692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Anim 37"/>
          <p:cNvSpPr/>
          <p:nvPr/>
        </p:nvSpPr>
        <p:spPr>
          <a:xfrm>
            <a:off x="777240" y="5166360"/>
            <a:ext cx="640080" cy="64008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Anim 3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5330952"/>
            <a:ext cx="310896" cy="310896"/>
          </a:xfrm>
          <a:prstGeom prst="rect">
            <a:avLst/>
          </a:prstGeom>
        </p:spPr>
      </p:pic>
      <p:sp>
        <p:nvSpPr>
          <p:cNvPr id="17" name="Anim 39"/>
          <p:cNvSpPr txBox="1"/>
          <p:nvPr/>
        </p:nvSpPr>
        <p:spPr>
          <a:xfrm>
            <a:off x="1691640" y="500176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Searching the wrong place.</a:t>
            </a:r>
            <a:endParaRPr lang="en-US" sz="1800" dirty="0"/>
          </a:p>
        </p:txBody>
      </p:sp>
      <p:sp>
        <p:nvSpPr>
          <p:cNvPr id="18" name="Anim 40"/>
          <p:cNvSpPr txBox="1"/>
          <p:nvPr/>
        </p:nvSpPr>
        <p:spPr>
          <a:xfrm>
            <a:off x="1691640" y="53492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Rescue teams waste critical hours searching open waters or dense terrain where the aircraft no longer is.</a:t>
            </a:r>
            <a:endParaRPr lang="en-US" sz="1400" dirty="0"/>
          </a:p>
        </p:txBody>
      </p:sp>
      <p:sp>
        <p:nvSpPr>
          <p:cNvPr id="19" name="Anim 41"/>
          <p:cNvSpPr/>
          <p:nvPr/>
        </p:nvSpPr>
        <p:spPr>
          <a:xfrm>
            <a:off x="6492240" y="1920240"/>
            <a:ext cx="5148072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Anim 42"/>
          <p:cNvSpPr txBox="1"/>
          <p:nvPr/>
        </p:nvSpPr>
        <p:spPr>
          <a:xfrm>
            <a:off x="672084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Survival probability vs. time since loss of contact (illustrative)</a:t>
            </a:r>
            <a:endParaRPr lang="en-US" sz="1200" dirty="0"/>
          </a:p>
        </p:txBody>
      </p:sp>
      <p:graphicFrame>
        <p:nvGraphicFramePr>
          <p:cNvPr id="21" name="Anim 43" descr=""/>
          <p:cNvGraphicFramePr/>
          <p:nvPr/>
        </p:nvGraphicFramePr>
        <p:xfrm>
          <a:off x="6629400" y="2560320"/>
          <a:ext cx="4800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Anim 44"/>
          <p:cNvSpPr txBox="1"/>
          <p:nvPr/>
        </p:nvSpPr>
        <p:spPr>
          <a:xfrm>
            <a:off x="6720840" y="5577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▲ The search area grows with every hour of uncertainty — and so does the time to cover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03  THE SOLUTION: AUTOMATED SAR ENGINE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From Guesswork to Precision Coordinates</a:t>
            </a:r>
            <a:endParaRPr lang="en-US" sz="3600" dirty="0"/>
          </a:p>
        </p:txBody>
      </p:sp>
      <p:sp>
        <p:nvSpPr>
          <p:cNvPr id="4" name="Anim 47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An intelligent web tool that instantly computes and plots the exact area worth searching.</a:t>
            </a:r>
            <a:endParaRPr lang="en-US" sz="1800" dirty="0"/>
          </a:p>
        </p:txBody>
      </p:sp>
      <p:sp>
        <p:nvSpPr>
          <p:cNvPr id="5" name="Anim 48"/>
          <p:cNvSpPr txBox="1"/>
          <p:nvPr/>
        </p:nvSpPr>
        <p:spPr>
          <a:xfrm>
            <a:off x="54864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INPUTS</a:t>
            </a:r>
            <a:endParaRPr lang="en-US" sz="1200" dirty="0"/>
          </a:p>
        </p:txBody>
      </p:sp>
      <p:sp>
        <p:nvSpPr>
          <p:cNvPr id="6" name="Anim 49"/>
          <p:cNvSpPr/>
          <p:nvPr/>
        </p:nvSpPr>
        <p:spPr>
          <a:xfrm>
            <a:off x="548640" y="2606040"/>
            <a:ext cx="32918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Anim 50"/>
          <p:cNvSpPr txBox="1"/>
          <p:nvPr/>
        </p:nvSpPr>
        <p:spPr>
          <a:xfrm>
            <a:off x="749808" y="26060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LKP</a:t>
            </a:r>
            <a:endParaRPr lang="en-US" sz="1400" dirty="0"/>
          </a:p>
        </p:txBody>
      </p:sp>
      <p:sp>
        <p:nvSpPr>
          <p:cNvPr id="8" name="Anim 51"/>
          <p:cNvSpPr txBox="1"/>
          <p:nvPr/>
        </p:nvSpPr>
        <p:spPr>
          <a:xfrm>
            <a:off x="1508760" y="26060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Last Known Position</a:t>
            </a:r>
            <a:endParaRPr lang="en-US" sz="1400" dirty="0"/>
          </a:p>
        </p:txBody>
      </p:sp>
      <p:sp>
        <p:nvSpPr>
          <p:cNvPr id="9" name="Anim 52"/>
          <p:cNvSpPr/>
          <p:nvPr/>
        </p:nvSpPr>
        <p:spPr>
          <a:xfrm>
            <a:off x="548640" y="3310128"/>
            <a:ext cx="32918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Anim 53"/>
          <p:cNvSpPr txBox="1"/>
          <p:nvPr/>
        </p:nvSpPr>
        <p:spPr>
          <a:xfrm>
            <a:off x="749808" y="331012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TAS</a:t>
            </a:r>
            <a:endParaRPr lang="en-US" sz="1400" dirty="0"/>
          </a:p>
        </p:txBody>
      </p:sp>
      <p:sp>
        <p:nvSpPr>
          <p:cNvPr id="11" name="Anim 54"/>
          <p:cNvSpPr txBox="1"/>
          <p:nvPr/>
        </p:nvSpPr>
        <p:spPr>
          <a:xfrm>
            <a:off x="1508760" y="331012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True Airspeed</a:t>
            </a:r>
            <a:endParaRPr lang="en-US" sz="1400" dirty="0"/>
          </a:p>
        </p:txBody>
      </p:sp>
      <p:sp>
        <p:nvSpPr>
          <p:cNvPr id="12" name="Anim 55"/>
          <p:cNvSpPr/>
          <p:nvPr/>
        </p:nvSpPr>
        <p:spPr>
          <a:xfrm>
            <a:off x="548640" y="4014216"/>
            <a:ext cx="32918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Anim 56"/>
          <p:cNvSpPr txBox="1"/>
          <p:nvPr/>
        </p:nvSpPr>
        <p:spPr>
          <a:xfrm>
            <a:off x="749808" y="401421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HDG</a:t>
            </a:r>
            <a:endParaRPr lang="en-US" sz="1400" dirty="0"/>
          </a:p>
        </p:txBody>
      </p:sp>
      <p:sp>
        <p:nvSpPr>
          <p:cNvPr id="14" name="Anim 57"/>
          <p:cNvSpPr txBox="1"/>
          <p:nvPr/>
        </p:nvSpPr>
        <p:spPr>
          <a:xfrm>
            <a:off x="1508760" y="401421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Heading</a:t>
            </a:r>
            <a:endParaRPr lang="en-US" sz="1400" dirty="0"/>
          </a:p>
        </p:txBody>
      </p:sp>
      <p:sp>
        <p:nvSpPr>
          <p:cNvPr id="15" name="Anim 58"/>
          <p:cNvSpPr/>
          <p:nvPr/>
        </p:nvSpPr>
        <p:spPr>
          <a:xfrm>
            <a:off x="548640" y="4718304"/>
            <a:ext cx="32918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Anim 59"/>
          <p:cNvSpPr txBox="1"/>
          <p:nvPr/>
        </p:nvSpPr>
        <p:spPr>
          <a:xfrm>
            <a:off x="749808" y="471830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FUEL</a:t>
            </a:r>
            <a:endParaRPr lang="en-US" sz="1400" dirty="0"/>
          </a:p>
        </p:txBody>
      </p:sp>
      <p:sp>
        <p:nvSpPr>
          <p:cNvPr id="17" name="Anim 60"/>
          <p:cNvSpPr txBox="1"/>
          <p:nvPr/>
        </p:nvSpPr>
        <p:spPr>
          <a:xfrm>
            <a:off x="1508760" y="471830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Fuel State</a:t>
            </a:r>
            <a:endParaRPr lang="en-US" sz="1400" dirty="0"/>
          </a:p>
        </p:txBody>
      </p:sp>
      <p:sp>
        <p:nvSpPr>
          <p:cNvPr id="18" name="Anim 61"/>
          <p:cNvSpPr/>
          <p:nvPr/>
        </p:nvSpPr>
        <p:spPr>
          <a:xfrm>
            <a:off x="548640" y="5422392"/>
            <a:ext cx="32918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Anim 62"/>
          <p:cNvSpPr txBox="1"/>
          <p:nvPr/>
        </p:nvSpPr>
        <p:spPr>
          <a:xfrm>
            <a:off x="749808" y="542239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WIND</a:t>
            </a:r>
            <a:endParaRPr lang="en-US" sz="1400" dirty="0"/>
          </a:p>
        </p:txBody>
      </p:sp>
      <p:sp>
        <p:nvSpPr>
          <p:cNvPr id="20" name="Anim 63"/>
          <p:cNvSpPr txBox="1"/>
          <p:nvPr/>
        </p:nvSpPr>
        <p:spPr>
          <a:xfrm>
            <a:off x="1508760" y="54223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Winds Aloft</a:t>
            </a:r>
            <a:endParaRPr lang="en-US" sz="1400" dirty="0"/>
          </a:p>
        </p:txBody>
      </p:sp>
      <p:sp>
        <p:nvSpPr>
          <p:cNvPr id="21" name="Anim 64"/>
          <p:cNvSpPr/>
          <p:nvPr/>
        </p:nvSpPr>
        <p:spPr>
          <a:xfrm>
            <a:off x="4023360" y="4206240"/>
            <a:ext cx="8229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Anim 65"/>
          <p:cNvSpPr/>
          <p:nvPr/>
        </p:nvSpPr>
        <p:spPr>
          <a:xfrm>
            <a:off x="5029200" y="2743200"/>
            <a:ext cx="2926080" cy="2926080"/>
          </a:xfrm>
          <a:prstGeom prst="roundRect">
            <a:avLst>
              <a:gd name="adj" fmla="val 5000"/>
            </a:avLst>
          </a:prstGeom>
          <a:solidFill>
            <a:schemeClr val="accent1">
              <a:alpha val="14000"/>
            </a:schemeClr>
          </a:solidFill>
          <a:ln w="22225">
            <a:solidFill>
              <a:schemeClr val="accent1"/>
            </a:solidFill>
            <a:prstDash val="solid"/>
          </a:ln>
        </p:spPr>
      </p:sp>
      <p:pic>
        <p:nvPicPr>
          <p:cNvPr id="23" name="Anim 6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3017520"/>
            <a:ext cx="548640" cy="548640"/>
          </a:xfrm>
          <a:prstGeom prst="rect">
            <a:avLst/>
          </a:prstGeom>
        </p:spPr>
      </p:pic>
      <p:sp>
        <p:nvSpPr>
          <p:cNvPr id="24" name="Anim 67"/>
          <p:cNvSpPr txBox="1"/>
          <p:nvPr/>
        </p:nvSpPr>
        <p:spPr>
          <a:xfrm>
            <a:off x="5120640" y="3703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AeroSAR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Engine</a:t>
            </a:r>
            <a:endParaRPr lang="en-US" sz="2800" dirty="0"/>
          </a:p>
        </p:txBody>
      </p:sp>
      <p:sp>
        <p:nvSpPr>
          <p:cNvPr id="25" name="Anim 68"/>
          <p:cNvSpPr txBox="1"/>
          <p:nvPr/>
        </p:nvSpPr>
        <p:spPr>
          <a:xfrm>
            <a:off x="5120640" y="4754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Datum · Drift · Error 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Monte Carlo</a:t>
            </a:r>
            <a:endParaRPr lang="en-US" sz="1400" dirty="0"/>
          </a:p>
        </p:txBody>
      </p:sp>
      <p:sp>
        <p:nvSpPr>
          <p:cNvPr id="26" name="Anim 69"/>
          <p:cNvSpPr/>
          <p:nvPr/>
        </p:nvSpPr>
        <p:spPr>
          <a:xfrm>
            <a:off x="8138160" y="4206240"/>
            <a:ext cx="7315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Anim 70"/>
          <p:cNvSpPr/>
          <p:nvPr/>
        </p:nvSpPr>
        <p:spPr>
          <a:xfrm>
            <a:off x="9052560" y="2743200"/>
            <a:ext cx="2587752" cy="2926080"/>
          </a:xfrm>
          <a:prstGeom prst="roundRect">
            <a:avLst>
              <a:gd name="adj" fmla="val 424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Anim 71"/>
          <p:cNvSpPr txBox="1"/>
          <p:nvPr/>
        </p:nvSpPr>
        <p:spPr>
          <a:xfrm>
            <a:off x="9281160" y="2926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OUTPUT</a:t>
            </a:r>
            <a:endParaRPr lang="en-US" sz="1200" dirty="0"/>
          </a:p>
        </p:txBody>
      </p:sp>
      <p:pic>
        <p:nvPicPr>
          <p:cNvPr id="29" name="Anim 7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3291840"/>
            <a:ext cx="502920" cy="502920"/>
          </a:xfrm>
          <a:prstGeom prst="rect">
            <a:avLst/>
          </a:prstGeom>
        </p:spPr>
      </p:pic>
      <p:sp>
        <p:nvSpPr>
          <p:cNvPr id="30" name="Anim 73"/>
          <p:cNvSpPr txBox="1"/>
          <p:nvPr/>
        </p:nvSpPr>
        <p:spPr>
          <a:xfrm>
            <a:off x="9281160" y="39776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Real-time, dynamic </a:t>
            </a:r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probability polygons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on an interactive map for pilots and coordinators.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04  CORE MATHEMATICAL MODEL  ·  IAMSAR STANDARDS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Grounded in Aviation Science</a:t>
            </a:r>
            <a:endParaRPr lang="en-US" sz="3600" dirty="0"/>
          </a:p>
        </p:txBody>
      </p:sp>
      <p:sp>
        <p:nvSpPr>
          <p:cNvPr id="4" name="Anim 76"/>
          <p:cNvSpPr/>
          <p:nvPr/>
        </p:nvSpPr>
        <p:spPr>
          <a:xfrm>
            <a:off x="548640" y="1783080"/>
            <a:ext cx="64008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Anim 77"/>
          <p:cNvSpPr txBox="1"/>
          <p:nvPr/>
        </p:nvSpPr>
        <p:spPr>
          <a:xfrm>
            <a:off x="777240" y="19202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01</a:t>
            </a:r>
            <a:endParaRPr lang="en-US" sz="2400" dirty="0"/>
          </a:p>
        </p:txBody>
      </p:sp>
      <p:sp>
        <p:nvSpPr>
          <p:cNvPr id="6" name="Anim 78"/>
          <p:cNvSpPr txBox="1"/>
          <p:nvPr/>
        </p:nvSpPr>
        <p:spPr>
          <a:xfrm>
            <a:off x="1463040" y="1874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Datum Point</a:t>
            </a:r>
            <a:endParaRPr lang="en-US" sz="1800" dirty="0"/>
          </a:p>
        </p:txBody>
      </p:sp>
      <p:sp>
        <p:nvSpPr>
          <p:cNvPr id="7" name="Anim 79"/>
          <p:cNvSpPr txBox="1"/>
          <p:nvPr/>
        </p:nvSpPr>
        <p:spPr>
          <a:xfrm>
            <a:off x="1463040" y="218541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Projects aircraft position using LKP, heading, and ground speed.</a:t>
            </a:r>
            <a:endParaRPr lang="en-US" sz="1400" dirty="0"/>
          </a:p>
        </p:txBody>
      </p:sp>
      <p:sp>
        <p:nvSpPr>
          <p:cNvPr id="8" name="Anim 80"/>
          <p:cNvSpPr/>
          <p:nvPr/>
        </p:nvSpPr>
        <p:spPr>
          <a:xfrm>
            <a:off x="1463040" y="2734056"/>
            <a:ext cx="521208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Anim 81"/>
          <p:cNvSpPr txBox="1"/>
          <p:nvPr/>
        </p:nvSpPr>
        <p:spPr>
          <a:xfrm>
            <a:off x="1627632" y="27340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baseline="-40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LKP</a:t>
            </a:r>
            <a:pPr indent="0" marL="0">
              <a:buNone/>
            </a:pPr>
            <a:r>
              <a:rPr lang="en-US" sz="1400" baseline="-40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lat,lon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(GS × Δt)∠HDG</a:t>
            </a:r>
            <a:endParaRPr lang="en-US" sz="1400" dirty="0"/>
          </a:p>
        </p:txBody>
      </p:sp>
      <p:sp>
        <p:nvSpPr>
          <p:cNvPr id="10" name="Anim 82"/>
          <p:cNvSpPr/>
          <p:nvPr/>
        </p:nvSpPr>
        <p:spPr>
          <a:xfrm>
            <a:off x="548640" y="3246120"/>
            <a:ext cx="64008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Anim 83"/>
          <p:cNvSpPr txBox="1"/>
          <p:nvPr/>
        </p:nvSpPr>
        <p:spPr>
          <a:xfrm>
            <a:off x="777240" y="3383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02</a:t>
            </a:r>
            <a:endParaRPr lang="en-US" sz="2400" dirty="0"/>
          </a:p>
        </p:txBody>
      </p:sp>
      <p:sp>
        <p:nvSpPr>
          <p:cNvPr id="12" name="Anim 84"/>
          <p:cNvSpPr txBox="1"/>
          <p:nvPr/>
        </p:nvSpPr>
        <p:spPr>
          <a:xfrm>
            <a:off x="1463040" y="3337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Wind Drift Vector</a:t>
            </a:r>
            <a:endParaRPr lang="en-US" sz="1800" dirty="0"/>
          </a:p>
        </p:txBody>
      </p:sp>
      <p:sp>
        <p:nvSpPr>
          <p:cNvPr id="13" name="Anim 85"/>
          <p:cNvSpPr txBox="1"/>
          <p:nvPr/>
        </p:nvSpPr>
        <p:spPr>
          <a:xfrm>
            <a:off x="1463040" y="364845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Vector-adds real-time winds aloft to shift the center of the search zone downwind.</a:t>
            </a:r>
            <a:endParaRPr lang="en-US" sz="1400" dirty="0"/>
          </a:p>
        </p:txBody>
      </p:sp>
      <p:sp>
        <p:nvSpPr>
          <p:cNvPr id="14" name="Anim 86"/>
          <p:cNvSpPr/>
          <p:nvPr/>
        </p:nvSpPr>
        <p:spPr>
          <a:xfrm>
            <a:off x="1463040" y="4197096"/>
            <a:ext cx="521208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Anim 87"/>
          <p:cNvSpPr txBox="1"/>
          <p:nvPr/>
        </p:nvSpPr>
        <p:spPr>
          <a:xfrm>
            <a:off x="1627632" y="419709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baseline="-40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V</a:t>
            </a:r>
            <a:pPr indent="0" marL="0">
              <a:buNone/>
            </a:pPr>
            <a:r>
              <a:rPr lang="en-US" sz="1400" baseline="-40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V</a:t>
            </a:r>
            <a:pPr indent="0" marL="0">
              <a:buNone/>
            </a:pPr>
            <a:r>
              <a:rPr lang="en-US" sz="1400" baseline="-40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</a:t>
            </a:r>
            <a:endParaRPr lang="en-US" sz="1400" dirty="0"/>
          </a:p>
        </p:txBody>
      </p:sp>
      <p:sp>
        <p:nvSpPr>
          <p:cNvPr id="16" name="Anim 88"/>
          <p:cNvSpPr/>
          <p:nvPr/>
        </p:nvSpPr>
        <p:spPr>
          <a:xfrm>
            <a:off x="548640" y="4709160"/>
            <a:ext cx="64008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Anim 89"/>
          <p:cNvSpPr txBox="1"/>
          <p:nvPr/>
        </p:nvSpPr>
        <p:spPr>
          <a:xfrm>
            <a:off x="777240" y="48463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03</a:t>
            </a:r>
            <a:endParaRPr lang="en-US" sz="2400" dirty="0"/>
          </a:p>
        </p:txBody>
      </p:sp>
      <p:sp>
        <p:nvSpPr>
          <p:cNvPr id="18" name="Anim 90"/>
          <p:cNvSpPr txBox="1"/>
          <p:nvPr/>
        </p:nvSpPr>
        <p:spPr>
          <a:xfrm>
            <a:off x="1463040" y="4800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Expanding Error Ellipse</a:t>
            </a:r>
            <a:endParaRPr lang="en-US" sz="1800" dirty="0"/>
          </a:p>
        </p:txBody>
      </p:sp>
      <p:sp>
        <p:nvSpPr>
          <p:cNvPr id="19" name="Anim 91"/>
          <p:cNvSpPr txBox="1"/>
          <p:nvPr/>
        </p:nvSpPr>
        <p:spPr>
          <a:xfrm>
            <a:off x="1463040" y="511149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Scales the search boundary proportionally over time to account for pilot navigation and fuel uncertainty.</a:t>
            </a:r>
            <a:endParaRPr lang="en-US" sz="1400" dirty="0"/>
          </a:p>
        </p:txBody>
      </p:sp>
      <p:sp>
        <p:nvSpPr>
          <p:cNvPr id="20" name="Anim 92"/>
          <p:cNvSpPr/>
          <p:nvPr/>
        </p:nvSpPr>
        <p:spPr>
          <a:xfrm>
            <a:off x="1463040" y="5660136"/>
            <a:ext cx="521208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Anim 93"/>
          <p:cNvSpPr txBox="1"/>
          <p:nvPr/>
        </p:nvSpPr>
        <p:spPr>
          <a:xfrm>
            <a:off x="1627632" y="566013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√(X² + Y² + D</a:t>
            </a:r>
            <a:pPr indent="0" marL="0">
              <a:buNone/>
            </a:pPr>
            <a:r>
              <a:rPr lang="en-US" sz="1400" baseline="-40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²) · k(t)</a:t>
            </a:r>
            <a:endParaRPr lang="en-US" sz="1400" dirty="0"/>
          </a:p>
        </p:txBody>
      </p:sp>
      <p:sp>
        <p:nvSpPr>
          <p:cNvPr id="22" name="Anim 94"/>
          <p:cNvSpPr/>
          <p:nvPr/>
        </p:nvSpPr>
        <p:spPr>
          <a:xfrm>
            <a:off x="7269480" y="1783080"/>
            <a:ext cx="4370832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Anim 95"/>
          <p:cNvSpPr txBox="1"/>
          <p:nvPr/>
        </p:nvSpPr>
        <p:spPr>
          <a:xfrm>
            <a:off x="7452360" y="1892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Geometric construction</a:t>
            </a:r>
            <a:endParaRPr lang="en-US" sz="1200" dirty="0"/>
          </a:p>
        </p:txBody>
      </p:sp>
      <p:sp>
        <p:nvSpPr>
          <p:cNvPr id="24" name="Anim 96"/>
          <p:cNvSpPr txBox="1"/>
          <p:nvPr/>
        </p:nvSpPr>
        <p:spPr>
          <a:xfrm>
            <a:off x="10972800" y="18928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 ↑</a:t>
            </a:r>
            <a:endParaRPr lang="en-US" sz="1200" dirty="0"/>
          </a:p>
        </p:txBody>
      </p:sp>
      <p:sp>
        <p:nvSpPr>
          <p:cNvPr id="25" name="Anim 97"/>
          <p:cNvSpPr/>
          <p:nvPr/>
        </p:nvSpPr>
        <p:spPr>
          <a:xfrm>
            <a:off x="8961120" y="2514600"/>
            <a:ext cx="2560320" cy="164592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Anim 98"/>
          <p:cNvSpPr/>
          <p:nvPr/>
        </p:nvSpPr>
        <p:spPr>
          <a:xfrm>
            <a:off x="9372600" y="2788920"/>
            <a:ext cx="1737360" cy="109728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Anim 99"/>
          <p:cNvSpPr/>
          <p:nvPr/>
        </p:nvSpPr>
        <p:spPr>
          <a:xfrm>
            <a:off x="9784080" y="3040380"/>
            <a:ext cx="914400" cy="59436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Anim 100"/>
          <p:cNvSpPr/>
          <p:nvPr/>
        </p:nvSpPr>
        <p:spPr>
          <a:xfrm flipV="1">
            <a:off x="7955280" y="3337560"/>
            <a:ext cx="2286000" cy="192024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dash"/>
          </a:ln>
        </p:spPr>
      </p:sp>
      <p:sp>
        <p:nvSpPr>
          <p:cNvPr id="29" name="Anim 101"/>
          <p:cNvSpPr/>
          <p:nvPr/>
        </p:nvSpPr>
        <p:spPr>
          <a:xfrm flipV="1">
            <a:off x="7955280" y="3840480"/>
            <a:ext cx="1280160" cy="1417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Anim 102"/>
          <p:cNvSpPr/>
          <p:nvPr/>
        </p:nvSpPr>
        <p:spPr>
          <a:xfrm flipV="1">
            <a:off x="9235440" y="3337560"/>
            <a:ext cx="1005840" cy="50292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1" name="Anim 103"/>
          <p:cNvSpPr/>
          <p:nvPr/>
        </p:nvSpPr>
        <p:spPr>
          <a:xfrm>
            <a:off x="7863840" y="5166360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Anim 104"/>
          <p:cNvSpPr/>
          <p:nvPr/>
        </p:nvSpPr>
        <p:spPr>
          <a:xfrm>
            <a:off x="10149840" y="3246120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Anim 105"/>
          <p:cNvSpPr txBox="1"/>
          <p:nvPr/>
        </p:nvSpPr>
        <p:spPr>
          <a:xfrm>
            <a:off x="7315200" y="5166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LKP</a:t>
            </a:r>
            <a:endParaRPr lang="en-US" sz="1200" dirty="0"/>
          </a:p>
        </p:txBody>
      </p:sp>
      <p:sp>
        <p:nvSpPr>
          <p:cNvPr id="34" name="Anim 106"/>
          <p:cNvSpPr txBox="1"/>
          <p:nvPr/>
        </p:nvSpPr>
        <p:spPr>
          <a:xfrm>
            <a:off x="7406640" y="4069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TAS × t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∠ HDG</a:t>
            </a:r>
            <a:endParaRPr lang="en-US" sz="1200" dirty="0"/>
          </a:p>
        </p:txBody>
      </p:sp>
      <p:sp>
        <p:nvSpPr>
          <p:cNvPr id="35" name="Anim 107"/>
          <p:cNvSpPr txBox="1"/>
          <p:nvPr/>
        </p:nvSpPr>
        <p:spPr>
          <a:xfrm>
            <a:off x="9646920" y="3767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Wind</a:t>
            </a:r>
            <a:endParaRPr lang="en-US" sz="1200" dirty="0"/>
          </a:p>
        </p:txBody>
      </p:sp>
      <p:sp>
        <p:nvSpPr>
          <p:cNvPr id="36" name="Anim 108"/>
          <p:cNvSpPr txBox="1"/>
          <p:nvPr/>
        </p:nvSpPr>
        <p:spPr>
          <a:xfrm>
            <a:off x="9144000" y="4572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Ground track</a:t>
            </a:r>
            <a:endParaRPr lang="en-US" sz="1200" dirty="0"/>
          </a:p>
        </p:txBody>
      </p:sp>
      <p:sp>
        <p:nvSpPr>
          <p:cNvPr id="37" name="Anim 109"/>
          <p:cNvSpPr txBox="1"/>
          <p:nvPr/>
        </p:nvSpPr>
        <p:spPr>
          <a:xfrm>
            <a:off x="10405872" y="32095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DATUM</a:t>
            </a:r>
            <a:endParaRPr lang="en-US" sz="1200" dirty="0"/>
          </a:p>
        </p:txBody>
      </p:sp>
      <p:sp>
        <p:nvSpPr>
          <p:cNvPr id="38" name="Anim 110"/>
          <p:cNvSpPr txBox="1"/>
          <p:nvPr/>
        </p:nvSpPr>
        <p:spPr>
          <a:xfrm>
            <a:off x="7452360" y="5669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Error ellipse @ t1 · t2 · t3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05  ADVANCED INTELLIGENCE: BEYOND BASIC RADIUS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Scaling to Probabilistic Modeling</a:t>
            </a:r>
            <a:endParaRPr lang="en-US" sz="3600" dirty="0"/>
          </a:p>
        </p:txBody>
      </p:sp>
      <p:sp>
        <p:nvSpPr>
          <p:cNvPr id="4" name="Anim 113"/>
          <p:cNvSpPr/>
          <p:nvPr/>
        </p:nvSpPr>
        <p:spPr>
          <a:xfrm>
            <a:off x="548640" y="1828800"/>
            <a:ext cx="3593592" cy="4160520"/>
          </a:xfrm>
          <a:prstGeom prst="roundRect">
            <a:avLst>
              <a:gd name="adj" fmla="val 305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Anim 114"/>
          <p:cNvSpPr txBox="1"/>
          <p:nvPr/>
        </p:nvSpPr>
        <p:spPr>
          <a:xfrm>
            <a:off x="749808" y="2011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Monte Carlo Particle Simulation</a:t>
            </a:r>
            <a:endParaRPr lang="en-US" sz="2000" dirty="0"/>
          </a:p>
        </p:txBody>
      </p:sp>
      <p:sp>
        <p:nvSpPr>
          <p:cNvPr id="6" name="Anim 115"/>
          <p:cNvSpPr/>
          <p:nvPr/>
        </p:nvSpPr>
        <p:spPr>
          <a:xfrm>
            <a:off x="749808" y="2743200"/>
            <a:ext cx="3191256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Anim 116"/>
          <p:cNvSpPr/>
          <p:nvPr/>
        </p:nvSpPr>
        <p:spPr>
          <a:xfrm>
            <a:off x="4297680" y="1828800"/>
            <a:ext cx="3593592" cy="4160520"/>
          </a:xfrm>
          <a:prstGeom prst="roundRect">
            <a:avLst>
              <a:gd name="adj" fmla="val 305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Anim 117"/>
          <p:cNvSpPr txBox="1"/>
          <p:nvPr/>
        </p:nvSpPr>
        <p:spPr>
          <a:xfrm>
            <a:off x="4498848" y="2011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Bayesian Grid Updates</a:t>
            </a:r>
            <a:endParaRPr lang="en-US" sz="2000" dirty="0"/>
          </a:p>
        </p:txBody>
      </p:sp>
      <p:sp>
        <p:nvSpPr>
          <p:cNvPr id="9" name="Anim 118"/>
          <p:cNvSpPr/>
          <p:nvPr/>
        </p:nvSpPr>
        <p:spPr>
          <a:xfrm>
            <a:off x="4498848" y="2743200"/>
            <a:ext cx="3191256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Anim 119"/>
          <p:cNvSpPr/>
          <p:nvPr/>
        </p:nvSpPr>
        <p:spPr>
          <a:xfrm>
            <a:off x="8046720" y="1828800"/>
            <a:ext cx="3593592" cy="4160520"/>
          </a:xfrm>
          <a:prstGeom prst="roundRect">
            <a:avLst>
              <a:gd name="adj" fmla="val 305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Anim 120"/>
          <p:cNvSpPr txBox="1"/>
          <p:nvPr/>
        </p:nvSpPr>
        <p:spPr>
          <a:xfrm>
            <a:off x="8247888" y="2011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Multi-Phase Drift</a:t>
            </a:r>
            <a:endParaRPr lang="en-US" sz="2000" dirty="0"/>
          </a:p>
        </p:txBody>
      </p:sp>
      <p:sp>
        <p:nvSpPr>
          <p:cNvPr id="12" name="Anim 121"/>
          <p:cNvSpPr/>
          <p:nvPr/>
        </p:nvSpPr>
        <p:spPr>
          <a:xfrm>
            <a:off x="8247888" y="2743200"/>
            <a:ext cx="3191256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Anim 122"/>
          <p:cNvSpPr/>
          <p:nvPr/>
        </p:nvSpPr>
        <p:spPr>
          <a:xfrm>
            <a:off x="2133407" y="3212485"/>
            <a:ext cx="61826" cy="61826"/>
          </a:xfrm>
          <a:prstGeom prst="ellipse">
            <a:avLst/>
          </a:prstGeom>
          <a:solidFill>
            <a:schemeClr val="accent1">
              <a:alpha val="57000"/>
            </a:schemeClr>
          </a:solidFill>
          <a:ln/>
        </p:spPr>
      </p:sp>
      <p:sp>
        <p:nvSpPr>
          <p:cNvPr id="14" name="Anim 123"/>
          <p:cNvSpPr/>
          <p:nvPr/>
        </p:nvSpPr>
        <p:spPr>
          <a:xfrm>
            <a:off x="2536424" y="3697273"/>
            <a:ext cx="57908" cy="57908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15" name="Anim 124"/>
          <p:cNvSpPr/>
          <p:nvPr/>
        </p:nvSpPr>
        <p:spPr>
          <a:xfrm>
            <a:off x="1823700" y="3539564"/>
            <a:ext cx="70000" cy="70000"/>
          </a:xfrm>
          <a:prstGeom prst="ellipse">
            <a:avLst/>
          </a:prstGeom>
          <a:solidFill>
            <a:schemeClr val="accent1">
              <a:alpha val="51000"/>
            </a:schemeClr>
          </a:solidFill>
          <a:ln/>
        </p:spPr>
      </p:sp>
      <p:sp>
        <p:nvSpPr>
          <p:cNvPr id="16" name="Anim 125"/>
          <p:cNvSpPr/>
          <p:nvPr/>
        </p:nvSpPr>
        <p:spPr>
          <a:xfrm>
            <a:off x="1366757" y="3491008"/>
            <a:ext cx="67487" cy="67487"/>
          </a:xfrm>
          <a:prstGeom prst="ellipse">
            <a:avLst/>
          </a:prstGeom>
          <a:solidFill>
            <a:schemeClr val="accent1">
              <a:alpha val="38000"/>
            </a:schemeClr>
          </a:solidFill>
          <a:ln/>
        </p:spPr>
      </p:sp>
      <p:sp>
        <p:nvSpPr>
          <p:cNvPr id="17" name="Anim 126"/>
          <p:cNvSpPr/>
          <p:nvPr/>
        </p:nvSpPr>
        <p:spPr>
          <a:xfrm>
            <a:off x="3370105" y="3409128"/>
            <a:ext cx="67396" cy="67396"/>
          </a:xfrm>
          <a:prstGeom prst="ellipse">
            <a:avLst/>
          </a:prstGeom>
          <a:solidFill>
            <a:schemeClr val="accent1">
              <a:alpha val="51000"/>
            </a:schemeClr>
          </a:solidFill>
          <a:ln/>
        </p:spPr>
      </p:sp>
      <p:sp>
        <p:nvSpPr>
          <p:cNvPr id="18" name="Anim 127"/>
          <p:cNvSpPr/>
          <p:nvPr/>
        </p:nvSpPr>
        <p:spPr>
          <a:xfrm>
            <a:off x="2103235" y="3316421"/>
            <a:ext cx="96864" cy="96864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19" name="Anim 128"/>
          <p:cNvSpPr/>
          <p:nvPr/>
        </p:nvSpPr>
        <p:spPr>
          <a:xfrm>
            <a:off x="2482090" y="3509884"/>
            <a:ext cx="88786" cy="88786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20" name="Anim 129"/>
          <p:cNvSpPr/>
          <p:nvPr/>
        </p:nvSpPr>
        <p:spPr>
          <a:xfrm>
            <a:off x="2758324" y="3219928"/>
            <a:ext cx="71556" cy="71556"/>
          </a:xfrm>
          <a:prstGeom prst="ellipse">
            <a:avLst/>
          </a:prstGeom>
          <a:solidFill>
            <a:schemeClr val="accent1">
              <a:alpha val="64000"/>
            </a:schemeClr>
          </a:solidFill>
          <a:ln/>
        </p:spPr>
      </p:sp>
      <p:sp>
        <p:nvSpPr>
          <p:cNvPr id="21" name="Anim 130"/>
          <p:cNvSpPr/>
          <p:nvPr/>
        </p:nvSpPr>
        <p:spPr>
          <a:xfrm>
            <a:off x="2905563" y="3812015"/>
            <a:ext cx="67408" cy="67408"/>
          </a:xfrm>
          <a:prstGeom prst="ellipse">
            <a:avLst/>
          </a:prstGeom>
          <a:solidFill>
            <a:schemeClr val="accent1">
              <a:alpha val="48000"/>
            </a:schemeClr>
          </a:solidFill>
          <a:ln/>
        </p:spPr>
      </p:sp>
      <p:sp>
        <p:nvSpPr>
          <p:cNvPr id="22" name="Anim 131"/>
          <p:cNvSpPr/>
          <p:nvPr/>
        </p:nvSpPr>
        <p:spPr>
          <a:xfrm>
            <a:off x="2583030" y="3712330"/>
            <a:ext cx="89964" cy="89964"/>
          </a:xfrm>
          <a:prstGeom prst="ellipse">
            <a:avLst/>
          </a:prstGeom>
          <a:solidFill>
            <a:schemeClr val="accent1">
              <a:alpha val="44000"/>
            </a:schemeClr>
          </a:solidFill>
          <a:ln/>
        </p:spPr>
      </p:sp>
      <p:sp>
        <p:nvSpPr>
          <p:cNvPr id="23" name="Anim 132"/>
          <p:cNvSpPr/>
          <p:nvPr/>
        </p:nvSpPr>
        <p:spPr>
          <a:xfrm>
            <a:off x="1795971" y="3530087"/>
            <a:ext cx="81208" cy="81208"/>
          </a:xfrm>
          <a:prstGeom prst="ellipse">
            <a:avLst/>
          </a:prstGeom>
          <a:solidFill>
            <a:schemeClr val="accent1">
              <a:alpha val="41000"/>
            </a:schemeClr>
          </a:solidFill>
          <a:ln/>
        </p:spPr>
      </p:sp>
      <p:sp>
        <p:nvSpPr>
          <p:cNvPr id="24" name="Anim 133"/>
          <p:cNvSpPr/>
          <p:nvPr/>
        </p:nvSpPr>
        <p:spPr>
          <a:xfrm>
            <a:off x="1476035" y="3509223"/>
            <a:ext cx="58518" cy="58518"/>
          </a:xfrm>
          <a:prstGeom prst="ellipse">
            <a:avLst/>
          </a:prstGeom>
          <a:solidFill>
            <a:schemeClr val="accent1">
              <a:alpha val="32000"/>
            </a:schemeClr>
          </a:solidFill>
          <a:ln/>
        </p:spPr>
      </p:sp>
      <p:sp>
        <p:nvSpPr>
          <p:cNvPr id="25" name="Anim 134"/>
          <p:cNvSpPr/>
          <p:nvPr/>
        </p:nvSpPr>
        <p:spPr>
          <a:xfrm>
            <a:off x="2787260" y="3323754"/>
            <a:ext cx="81782" cy="81782"/>
          </a:xfrm>
          <a:prstGeom prst="ellipse">
            <a:avLst/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6" name="Anim 135"/>
          <p:cNvSpPr/>
          <p:nvPr/>
        </p:nvSpPr>
        <p:spPr>
          <a:xfrm>
            <a:off x="3199600" y="3523799"/>
            <a:ext cx="83178" cy="83178"/>
          </a:xfrm>
          <a:prstGeom prst="ellipse">
            <a:avLst/>
          </a:prstGeom>
          <a:solidFill>
            <a:schemeClr val="accent1">
              <a:alpha val="34000"/>
            </a:schemeClr>
          </a:solidFill>
          <a:ln/>
        </p:spPr>
      </p:sp>
      <p:sp>
        <p:nvSpPr>
          <p:cNvPr id="27" name="Anim 136"/>
          <p:cNvSpPr/>
          <p:nvPr/>
        </p:nvSpPr>
        <p:spPr>
          <a:xfrm>
            <a:off x="2024903" y="3794144"/>
            <a:ext cx="96517" cy="96517"/>
          </a:xfrm>
          <a:prstGeom prst="ellipse">
            <a:avLst/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28" name="Anim 137"/>
          <p:cNvSpPr/>
          <p:nvPr/>
        </p:nvSpPr>
        <p:spPr>
          <a:xfrm>
            <a:off x="2603177" y="3527400"/>
            <a:ext cx="97653" cy="97653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29" name="Anim 138"/>
          <p:cNvSpPr/>
          <p:nvPr/>
        </p:nvSpPr>
        <p:spPr>
          <a:xfrm>
            <a:off x="1794793" y="3474594"/>
            <a:ext cx="92728" cy="92728"/>
          </a:xfrm>
          <a:prstGeom prst="ellipse">
            <a:avLst/>
          </a:prstGeom>
          <a:solidFill>
            <a:schemeClr val="accent1">
              <a:alpha val="33000"/>
            </a:schemeClr>
          </a:solidFill>
          <a:ln/>
        </p:spPr>
      </p:sp>
      <p:sp>
        <p:nvSpPr>
          <p:cNvPr id="30" name="Anim 139"/>
          <p:cNvSpPr/>
          <p:nvPr/>
        </p:nvSpPr>
        <p:spPr>
          <a:xfrm>
            <a:off x="2501063" y="3354439"/>
            <a:ext cx="100262" cy="100262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31" name="Anim 140"/>
          <p:cNvSpPr/>
          <p:nvPr/>
        </p:nvSpPr>
        <p:spPr>
          <a:xfrm>
            <a:off x="2438050" y="3418809"/>
            <a:ext cx="93996" cy="93996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32" name="Anim 141"/>
          <p:cNvSpPr/>
          <p:nvPr/>
        </p:nvSpPr>
        <p:spPr>
          <a:xfrm>
            <a:off x="2064692" y="4054180"/>
            <a:ext cx="80094" cy="80094"/>
          </a:xfrm>
          <a:prstGeom prst="ellipse">
            <a:avLst/>
          </a:prstGeom>
          <a:solidFill>
            <a:schemeClr val="accent1">
              <a:alpha val="60000"/>
            </a:schemeClr>
          </a:solidFill>
          <a:ln/>
        </p:spPr>
      </p:sp>
      <p:sp>
        <p:nvSpPr>
          <p:cNvPr id="33" name="Anim 142"/>
          <p:cNvSpPr/>
          <p:nvPr/>
        </p:nvSpPr>
        <p:spPr>
          <a:xfrm>
            <a:off x="1803214" y="3509418"/>
            <a:ext cx="69517" cy="69517"/>
          </a:xfrm>
          <a:prstGeom prst="ellipse">
            <a:avLst/>
          </a:prstGeom>
          <a:solidFill>
            <a:schemeClr val="accent1">
              <a:alpha val="59000"/>
            </a:schemeClr>
          </a:solidFill>
          <a:ln/>
        </p:spPr>
      </p:sp>
      <p:sp>
        <p:nvSpPr>
          <p:cNvPr id="34" name="Anim 143"/>
          <p:cNvSpPr/>
          <p:nvPr/>
        </p:nvSpPr>
        <p:spPr>
          <a:xfrm>
            <a:off x="1656648" y="3413104"/>
            <a:ext cx="71521" cy="71521"/>
          </a:xfrm>
          <a:prstGeom prst="ellipse">
            <a:avLst/>
          </a:prstGeom>
          <a:solidFill>
            <a:schemeClr val="accent1">
              <a:alpha val="33000"/>
            </a:schemeClr>
          </a:solidFill>
          <a:ln/>
        </p:spPr>
      </p:sp>
      <p:sp>
        <p:nvSpPr>
          <p:cNvPr id="35" name="Anim 144"/>
          <p:cNvSpPr/>
          <p:nvPr/>
        </p:nvSpPr>
        <p:spPr>
          <a:xfrm>
            <a:off x="1756572" y="3208165"/>
            <a:ext cx="66251" cy="66251"/>
          </a:xfrm>
          <a:prstGeom prst="ellipse">
            <a:avLst/>
          </a:prstGeom>
          <a:solidFill>
            <a:schemeClr val="accent1">
              <a:alpha val="48000"/>
            </a:schemeClr>
          </a:solidFill>
          <a:ln/>
        </p:spPr>
      </p:sp>
      <p:sp>
        <p:nvSpPr>
          <p:cNvPr id="36" name="Anim 145"/>
          <p:cNvSpPr/>
          <p:nvPr/>
        </p:nvSpPr>
        <p:spPr>
          <a:xfrm>
            <a:off x="2624644" y="3605504"/>
            <a:ext cx="61192" cy="61192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37" name="Anim 146"/>
          <p:cNvSpPr/>
          <p:nvPr/>
        </p:nvSpPr>
        <p:spPr>
          <a:xfrm>
            <a:off x="3149695" y="3550152"/>
            <a:ext cx="63178" cy="63178"/>
          </a:xfrm>
          <a:prstGeom prst="ellipse">
            <a:avLst/>
          </a:prstGeom>
          <a:solidFill>
            <a:schemeClr val="accent1">
              <a:alpha val="54000"/>
            </a:schemeClr>
          </a:solidFill>
          <a:ln/>
        </p:spPr>
      </p:sp>
      <p:sp>
        <p:nvSpPr>
          <p:cNvPr id="38" name="Anim 147"/>
          <p:cNvSpPr/>
          <p:nvPr/>
        </p:nvSpPr>
        <p:spPr>
          <a:xfrm>
            <a:off x="3149168" y="3680690"/>
            <a:ext cx="81860" cy="81860"/>
          </a:xfrm>
          <a:prstGeom prst="ellipse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39" name="Anim 148"/>
          <p:cNvSpPr/>
          <p:nvPr/>
        </p:nvSpPr>
        <p:spPr>
          <a:xfrm>
            <a:off x="1372390" y="3209091"/>
            <a:ext cx="85417" cy="85417"/>
          </a:xfrm>
          <a:prstGeom prst="ellipse">
            <a:avLst/>
          </a:prstGeom>
          <a:solidFill>
            <a:schemeClr val="accent1">
              <a:alpha val="34000"/>
            </a:schemeClr>
          </a:solidFill>
          <a:ln/>
        </p:spPr>
      </p:sp>
      <p:sp>
        <p:nvSpPr>
          <p:cNvPr id="40" name="Anim 149"/>
          <p:cNvSpPr/>
          <p:nvPr/>
        </p:nvSpPr>
        <p:spPr>
          <a:xfrm>
            <a:off x="1864856" y="3482739"/>
            <a:ext cx="60986" cy="60986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41" name="Anim 150"/>
          <p:cNvSpPr/>
          <p:nvPr/>
        </p:nvSpPr>
        <p:spPr>
          <a:xfrm>
            <a:off x="1947647" y="3681100"/>
            <a:ext cx="62572" cy="62572"/>
          </a:xfrm>
          <a:prstGeom prst="ellipse">
            <a:avLst/>
          </a:prstGeom>
          <a:solidFill>
            <a:schemeClr val="accent1">
              <a:alpha val="53000"/>
            </a:schemeClr>
          </a:solidFill>
          <a:ln/>
        </p:spPr>
      </p:sp>
      <p:sp>
        <p:nvSpPr>
          <p:cNvPr id="42" name="Anim 151"/>
          <p:cNvSpPr/>
          <p:nvPr/>
        </p:nvSpPr>
        <p:spPr>
          <a:xfrm>
            <a:off x="2147338" y="3623452"/>
            <a:ext cx="64856" cy="64856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43" name="Anim 152"/>
          <p:cNvSpPr/>
          <p:nvPr/>
        </p:nvSpPr>
        <p:spPr>
          <a:xfrm>
            <a:off x="2160761" y="3335471"/>
            <a:ext cx="59791" cy="59791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44" name="Anim 153"/>
          <p:cNvSpPr/>
          <p:nvPr/>
        </p:nvSpPr>
        <p:spPr>
          <a:xfrm>
            <a:off x="2524485" y="3930007"/>
            <a:ext cx="87293" cy="87293"/>
          </a:xfrm>
          <a:prstGeom prst="ellipse">
            <a:avLst/>
          </a:prstGeom>
          <a:solidFill>
            <a:schemeClr val="accent1">
              <a:alpha val="59000"/>
            </a:schemeClr>
          </a:solidFill>
          <a:ln/>
        </p:spPr>
      </p:sp>
      <p:sp>
        <p:nvSpPr>
          <p:cNvPr id="45" name="Anim 154"/>
          <p:cNvSpPr/>
          <p:nvPr/>
        </p:nvSpPr>
        <p:spPr>
          <a:xfrm>
            <a:off x="2013093" y="2845851"/>
            <a:ext cx="69019" cy="69019"/>
          </a:xfrm>
          <a:prstGeom prst="ellipse">
            <a:avLst/>
          </a:prstGeom>
          <a:solidFill>
            <a:schemeClr val="accent1">
              <a:alpha val="31000"/>
            </a:schemeClr>
          </a:solidFill>
          <a:ln/>
        </p:spPr>
      </p:sp>
      <p:sp>
        <p:nvSpPr>
          <p:cNvPr id="46" name="Anim 155"/>
          <p:cNvSpPr/>
          <p:nvPr/>
        </p:nvSpPr>
        <p:spPr>
          <a:xfrm>
            <a:off x="1818774" y="3546390"/>
            <a:ext cx="89533" cy="89533"/>
          </a:xfrm>
          <a:prstGeom prst="ellipse">
            <a:avLst/>
          </a:prstGeom>
          <a:solidFill>
            <a:schemeClr val="accent1">
              <a:alpha val="58000"/>
            </a:schemeClr>
          </a:solidFill>
          <a:ln/>
        </p:spPr>
      </p:sp>
      <p:sp>
        <p:nvSpPr>
          <p:cNvPr id="47" name="Anim 156"/>
          <p:cNvSpPr/>
          <p:nvPr/>
        </p:nvSpPr>
        <p:spPr>
          <a:xfrm>
            <a:off x="3045094" y="3426610"/>
            <a:ext cx="59875" cy="59875"/>
          </a:xfrm>
          <a:prstGeom prst="ellipse">
            <a:avLst/>
          </a:prstGeom>
          <a:solidFill>
            <a:schemeClr val="accent1">
              <a:alpha val="60000"/>
            </a:schemeClr>
          </a:solidFill>
          <a:ln/>
        </p:spPr>
      </p:sp>
      <p:sp>
        <p:nvSpPr>
          <p:cNvPr id="48" name="Anim 157"/>
          <p:cNvSpPr/>
          <p:nvPr/>
        </p:nvSpPr>
        <p:spPr>
          <a:xfrm>
            <a:off x="2282058" y="3465494"/>
            <a:ext cx="74183" cy="74183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49" name="Anim 158"/>
          <p:cNvSpPr/>
          <p:nvPr/>
        </p:nvSpPr>
        <p:spPr>
          <a:xfrm>
            <a:off x="2181298" y="3425533"/>
            <a:ext cx="58584" cy="58584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50" name="Anim 159"/>
          <p:cNvSpPr/>
          <p:nvPr/>
        </p:nvSpPr>
        <p:spPr>
          <a:xfrm>
            <a:off x="2061571" y="3195389"/>
            <a:ext cx="80155" cy="80155"/>
          </a:xfrm>
          <a:prstGeom prst="ellipse">
            <a:avLst/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51" name="Anim 160"/>
          <p:cNvSpPr/>
          <p:nvPr/>
        </p:nvSpPr>
        <p:spPr>
          <a:xfrm>
            <a:off x="1873047" y="3472329"/>
            <a:ext cx="91288" cy="91288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52" name="Anim 161"/>
          <p:cNvSpPr/>
          <p:nvPr/>
        </p:nvSpPr>
        <p:spPr>
          <a:xfrm>
            <a:off x="1765400" y="3462008"/>
            <a:ext cx="88521" cy="88521"/>
          </a:xfrm>
          <a:prstGeom prst="ellipse">
            <a:avLst/>
          </a:prstGeom>
          <a:solidFill>
            <a:schemeClr val="accent1">
              <a:alpha val="61000"/>
            </a:schemeClr>
          </a:solidFill>
          <a:ln/>
        </p:spPr>
      </p:sp>
      <p:sp>
        <p:nvSpPr>
          <p:cNvPr id="53" name="Anim 162"/>
          <p:cNvSpPr/>
          <p:nvPr/>
        </p:nvSpPr>
        <p:spPr>
          <a:xfrm>
            <a:off x="2053313" y="3685080"/>
            <a:ext cx="99913" cy="99913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54" name="Anim 163"/>
          <p:cNvSpPr/>
          <p:nvPr/>
        </p:nvSpPr>
        <p:spPr>
          <a:xfrm>
            <a:off x="1758756" y="3212792"/>
            <a:ext cx="87426" cy="87426"/>
          </a:xfrm>
          <a:prstGeom prst="ellipse">
            <a:avLst/>
          </a:prstGeom>
          <a:solidFill>
            <a:schemeClr val="accent1">
              <a:alpha val="32000"/>
            </a:schemeClr>
          </a:solidFill>
          <a:ln/>
        </p:spPr>
      </p:sp>
      <p:sp>
        <p:nvSpPr>
          <p:cNvPr id="55" name="Anim 164"/>
          <p:cNvSpPr/>
          <p:nvPr/>
        </p:nvSpPr>
        <p:spPr>
          <a:xfrm>
            <a:off x="1976499" y="3806301"/>
            <a:ext cx="55542" cy="55542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56" name="Anim 165"/>
          <p:cNvSpPr/>
          <p:nvPr/>
        </p:nvSpPr>
        <p:spPr>
          <a:xfrm>
            <a:off x="2582507" y="3682027"/>
            <a:ext cx="81433" cy="81433"/>
          </a:xfrm>
          <a:prstGeom prst="ellipse">
            <a:avLst/>
          </a:prstGeom>
          <a:solidFill>
            <a:schemeClr val="accent1">
              <a:alpha val="36000"/>
            </a:schemeClr>
          </a:solidFill>
          <a:ln/>
        </p:spPr>
      </p:sp>
      <p:sp>
        <p:nvSpPr>
          <p:cNvPr id="57" name="Anim 166"/>
          <p:cNvSpPr/>
          <p:nvPr/>
        </p:nvSpPr>
        <p:spPr>
          <a:xfrm>
            <a:off x="3215725" y="3447180"/>
            <a:ext cx="70886" cy="70886"/>
          </a:xfrm>
          <a:prstGeom prst="ellipse">
            <a:avLst/>
          </a:prstGeom>
          <a:solidFill>
            <a:schemeClr val="accent1">
              <a:alpha val="41000"/>
            </a:schemeClr>
          </a:solidFill>
          <a:ln/>
        </p:spPr>
      </p:sp>
      <p:sp>
        <p:nvSpPr>
          <p:cNvPr id="58" name="Anim 167"/>
          <p:cNvSpPr/>
          <p:nvPr/>
        </p:nvSpPr>
        <p:spPr>
          <a:xfrm>
            <a:off x="2155445" y="3135648"/>
            <a:ext cx="93369" cy="93369"/>
          </a:xfrm>
          <a:prstGeom prst="ellipse">
            <a:avLst/>
          </a:prstGeom>
          <a:solidFill>
            <a:schemeClr val="accent1">
              <a:alpha val="53000"/>
            </a:schemeClr>
          </a:solidFill>
          <a:ln/>
        </p:spPr>
      </p:sp>
      <p:sp>
        <p:nvSpPr>
          <p:cNvPr id="59" name="Anim 168"/>
          <p:cNvSpPr/>
          <p:nvPr/>
        </p:nvSpPr>
        <p:spPr>
          <a:xfrm>
            <a:off x="2191206" y="3557386"/>
            <a:ext cx="65508" cy="65508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60" name="Anim 169"/>
          <p:cNvSpPr/>
          <p:nvPr/>
        </p:nvSpPr>
        <p:spPr>
          <a:xfrm>
            <a:off x="2837963" y="3678721"/>
            <a:ext cx="91975" cy="91975"/>
          </a:xfrm>
          <a:prstGeom prst="ellipse">
            <a:avLst/>
          </a:prstGeom>
          <a:solidFill>
            <a:schemeClr val="accent1">
              <a:alpha val="46000"/>
            </a:schemeClr>
          </a:solidFill>
          <a:ln/>
        </p:spPr>
      </p:sp>
      <p:sp>
        <p:nvSpPr>
          <p:cNvPr id="61" name="Anim 170"/>
          <p:cNvSpPr/>
          <p:nvPr/>
        </p:nvSpPr>
        <p:spPr>
          <a:xfrm>
            <a:off x="1663175" y="3101230"/>
            <a:ext cx="73957" cy="73957"/>
          </a:xfrm>
          <a:prstGeom prst="ellipse">
            <a:avLst/>
          </a:prstGeom>
          <a:solidFill>
            <a:schemeClr val="accent1">
              <a:alpha val="31000"/>
            </a:schemeClr>
          </a:solidFill>
          <a:ln/>
        </p:spPr>
      </p:sp>
      <p:sp>
        <p:nvSpPr>
          <p:cNvPr id="62" name="Anim 171"/>
          <p:cNvSpPr/>
          <p:nvPr/>
        </p:nvSpPr>
        <p:spPr>
          <a:xfrm>
            <a:off x="3135736" y="3669466"/>
            <a:ext cx="99551" cy="99551"/>
          </a:xfrm>
          <a:prstGeom prst="ellipse">
            <a:avLst/>
          </a:prstGeom>
          <a:solidFill>
            <a:schemeClr val="accent1">
              <a:alpha val="32000"/>
            </a:schemeClr>
          </a:solidFill>
          <a:ln/>
        </p:spPr>
      </p:sp>
      <p:sp>
        <p:nvSpPr>
          <p:cNvPr id="63" name="Anim 172"/>
          <p:cNvSpPr/>
          <p:nvPr/>
        </p:nvSpPr>
        <p:spPr>
          <a:xfrm>
            <a:off x="2381865" y="3549244"/>
            <a:ext cx="59912" cy="59912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64" name="Anim 173"/>
          <p:cNvSpPr/>
          <p:nvPr/>
        </p:nvSpPr>
        <p:spPr>
          <a:xfrm>
            <a:off x="2655834" y="3723598"/>
            <a:ext cx="92976" cy="92976"/>
          </a:xfrm>
          <a:prstGeom prst="ellipse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65" name="Anim 174"/>
          <p:cNvSpPr/>
          <p:nvPr/>
        </p:nvSpPr>
        <p:spPr>
          <a:xfrm>
            <a:off x="1926221" y="3570202"/>
            <a:ext cx="81983" cy="81983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66" name="Anim 175"/>
          <p:cNvSpPr/>
          <p:nvPr/>
        </p:nvSpPr>
        <p:spPr>
          <a:xfrm>
            <a:off x="2718443" y="3130828"/>
            <a:ext cx="73281" cy="73281"/>
          </a:xfrm>
          <a:prstGeom prst="ellipse">
            <a:avLst/>
          </a:prstGeom>
          <a:solidFill>
            <a:schemeClr val="accent1">
              <a:alpha val="33000"/>
            </a:schemeClr>
          </a:solidFill>
          <a:ln/>
        </p:spPr>
      </p:sp>
      <p:sp>
        <p:nvSpPr>
          <p:cNvPr id="67" name="Anim 176"/>
          <p:cNvSpPr/>
          <p:nvPr/>
        </p:nvSpPr>
        <p:spPr>
          <a:xfrm>
            <a:off x="2052426" y="3237895"/>
            <a:ext cx="63608" cy="63608"/>
          </a:xfrm>
          <a:prstGeom prst="ellipse">
            <a:avLst/>
          </a:prstGeom>
          <a:solidFill>
            <a:schemeClr val="accent1">
              <a:alpha val="43000"/>
            </a:schemeClr>
          </a:solidFill>
          <a:ln/>
        </p:spPr>
      </p:sp>
      <p:sp>
        <p:nvSpPr>
          <p:cNvPr id="68" name="Anim 177"/>
          <p:cNvSpPr/>
          <p:nvPr/>
        </p:nvSpPr>
        <p:spPr>
          <a:xfrm>
            <a:off x="2701326" y="3374998"/>
            <a:ext cx="78199" cy="78199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69" name="Anim 178"/>
          <p:cNvSpPr/>
          <p:nvPr/>
        </p:nvSpPr>
        <p:spPr>
          <a:xfrm>
            <a:off x="2280413" y="3095164"/>
            <a:ext cx="90553" cy="90553"/>
          </a:xfrm>
          <a:prstGeom prst="ellipse">
            <a:avLst/>
          </a:prstGeom>
          <a:solidFill>
            <a:schemeClr val="accent1">
              <a:alpha val="63000"/>
            </a:schemeClr>
          </a:solidFill>
          <a:ln/>
        </p:spPr>
      </p:sp>
      <p:sp>
        <p:nvSpPr>
          <p:cNvPr id="70" name="Anim 179"/>
          <p:cNvSpPr/>
          <p:nvPr/>
        </p:nvSpPr>
        <p:spPr>
          <a:xfrm>
            <a:off x="1933659" y="3610480"/>
            <a:ext cx="75376" cy="75376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71" name="Anim 180"/>
          <p:cNvSpPr/>
          <p:nvPr/>
        </p:nvSpPr>
        <p:spPr>
          <a:xfrm>
            <a:off x="2014435" y="3732063"/>
            <a:ext cx="91258" cy="91258"/>
          </a:xfrm>
          <a:prstGeom prst="ellipse">
            <a:avLst/>
          </a:prstGeom>
          <a:solidFill>
            <a:schemeClr val="accent1">
              <a:alpha val="39000"/>
            </a:schemeClr>
          </a:solidFill>
          <a:ln/>
        </p:spPr>
      </p:sp>
      <p:sp>
        <p:nvSpPr>
          <p:cNvPr id="72" name="Anim 181"/>
          <p:cNvSpPr/>
          <p:nvPr/>
        </p:nvSpPr>
        <p:spPr>
          <a:xfrm>
            <a:off x="2203722" y="3480734"/>
            <a:ext cx="62171" cy="62171"/>
          </a:xfrm>
          <a:prstGeom prst="ellipse">
            <a:avLst/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73" name="Anim 182"/>
          <p:cNvSpPr txBox="1"/>
          <p:nvPr/>
        </p:nvSpPr>
        <p:spPr>
          <a:xfrm>
            <a:off x="749808" y="44348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Simulates thousands of virtual flight paths to create a high-density probability cloud.</a:t>
            </a:r>
            <a:endParaRPr lang="en-US" sz="1400" dirty="0"/>
          </a:p>
        </p:txBody>
      </p:sp>
      <p:sp>
        <p:nvSpPr>
          <p:cNvPr id="74" name="Anim 183"/>
          <p:cNvSpPr/>
          <p:nvPr/>
        </p:nvSpPr>
        <p:spPr>
          <a:xfrm>
            <a:off x="4581144" y="2775204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5" name="Anim 184"/>
          <p:cNvSpPr/>
          <p:nvPr/>
        </p:nvSpPr>
        <p:spPr>
          <a:xfrm>
            <a:off x="4965192" y="2775204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6" name="Anim 185"/>
          <p:cNvSpPr/>
          <p:nvPr/>
        </p:nvSpPr>
        <p:spPr>
          <a:xfrm>
            <a:off x="5349240" y="2775204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7" name="Anim 186"/>
          <p:cNvSpPr/>
          <p:nvPr/>
        </p:nvSpPr>
        <p:spPr>
          <a:xfrm>
            <a:off x="5733288" y="2775204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8" name="Anim 187"/>
          <p:cNvSpPr/>
          <p:nvPr/>
        </p:nvSpPr>
        <p:spPr>
          <a:xfrm>
            <a:off x="6117336" y="2775204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44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9" name="Anim 188"/>
          <p:cNvSpPr/>
          <p:nvPr/>
        </p:nvSpPr>
        <p:spPr>
          <a:xfrm>
            <a:off x="6501384" y="2775204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0" name="Anim 189"/>
          <p:cNvSpPr/>
          <p:nvPr/>
        </p:nvSpPr>
        <p:spPr>
          <a:xfrm>
            <a:off x="6885432" y="2775204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1" name="Anim 190"/>
          <p:cNvSpPr/>
          <p:nvPr/>
        </p:nvSpPr>
        <p:spPr>
          <a:xfrm>
            <a:off x="7269480" y="2775204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2" name="Anim 191"/>
          <p:cNvSpPr/>
          <p:nvPr/>
        </p:nvSpPr>
        <p:spPr>
          <a:xfrm>
            <a:off x="4581144" y="3159252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24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3" name="Anim 192"/>
          <p:cNvSpPr/>
          <p:nvPr/>
        </p:nvSpPr>
        <p:spPr>
          <a:xfrm>
            <a:off x="4965192" y="3159252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4" name="Anim 193"/>
          <p:cNvSpPr/>
          <p:nvPr/>
        </p:nvSpPr>
        <p:spPr>
          <a:xfrm>
            <a:off x="5349240" y="3159252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5" name="Anim 194"/>
          <p:cNvSpPr/>
          <p:nvPr/>
        </p:nvSpPr>
        <p:spPr>
          <a:xfrm>
            <a:off x="5733288" y="3159252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6" name="Anim 195"/>
          <p:cNvSpPr/>
          <p:nvPr/>
        </p:nvSpPr>
        <p:spPr>
          <a:xfrm>
            <a:off x="6117336" y="3159252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8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7" name="Anim 196"/>
          <p:cNvSpPr/>
          <p:nvPr/>
        </p:nvSpPr>
        <p:spPr>
          <a:xfrm>
            <a:off x="6501384" y="3159252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67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8" name="Anim 197"/>
          <p:cNvSpPr/>
          <p:nvPr/>
        </p:nvSpPr>
        <p:spPr>
          <a:xfrm>
            <a:off x="6885432" y="3159252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41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9" name="Anim 198"/>
          <p:cNvSpPr/>
          <p:nvPr/>
        </p:nvSpPr>
        <p:spPr>
          <a:xfrm>
            <a:off x="7269480" y="3159252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24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0" name="Anim 199"/>
          <p:cNvSpPr/>
          <p:nvPr/>
        </p:nvSpPr>
        <p:spPr>
          <a:xfrm>
            <a:off x="4581144" y="3543300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24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1" name="Anim 200"/>
          <p:cNvSpPr/>
          <p:nvPr/>
        </p:nvSpPr>
        <p:spPr>
          <a:xfrm>
            <a:off x="4965192" y="3543300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41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2" name="Anim 201"/>
          <p:cNvSpPr/>
          <p:nvPr/>
        </p:nvSpPr>
        <p:spPr>
          <a:xfrm>
            <a:off x="5349240" y="3543300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67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3" name="Anim 202"/>
          <p:cNvSpPr/>
          <p:nvPr/>
        </p:nvSpPr>
        <p:spPr>
          <a:xfrm>
            <a:off x="5733288" y="3543300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8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4" name="Anim 203"/>
          <p:cNvSpPr/>
          <p:nvPr/>
        </p:nvSpPr>
        <p:spPr>
          <a:xfrm>
            <a:off x="6117336" y="3543300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8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5" name="Anim 204"/>
          <p:cNvSpPr/>
          <p:nvPr/>
        </p:nvSpPr>
        <p:spPr>
          <a:xfrm>
            <a:off x="6501384" y="3543300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67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6" name="Anim 205"/>
          <p:cNvSpPr/>
          <p:nvPr/>
        </p:nvSpPr>
        <p:spPr>
          <a:xfrm>
            <a:off x="6885432" y="3543300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41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7" name="Anim 206"/>
          <p:cNvSpPr/>
          <p:nvPr/>
        </p:nvSpPr>
        <p:spPr>
          <a:xfrm>
            <a:off x="7269480" y="3543300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24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8" name="Anim 207"/>
          <p:cNvSpPr/>
          <p:nvPr/>
        </p:nvSpPr>
        <p:spPr>
          <a:xfrm>
            <a:off x="4581144" y="3927348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9" name="Anim 208"/>
          <p:cNvSpPr/>
          <p:nvPr/>
        </p:nvSpPr>
        <p:spPr>
          <a:xfrm>
            <a:off x="4965192" y="3927348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0" name="Anim 209"/>
          <p:cNvSpPr/>
          <p:nvPr/>
        </p:nvSpPr>
        <p:spPr>
          <a:xfrm>
            <a:off x="5349240" y="3927348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1" name="Anim 210"/>
          <p:cNvSpPr/>
          <p:nvPr/>
        </p:nvSpPr>
        <p:spPr>
          <a:xfrm>
            <a:off x="5733288" y="3927348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44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2" name="Anim 211"/>
          <p:cNvSpPr/>
          <p:nvPr/>
        </p:nvSpPr>
        <p:spPr>
          <a:xfrm>
            <a:off x="6117336" y="3927348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44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3" name="Anim 212"/>
          <p:cNvSpPr/>
          <p:nvPr/>
        </p:nvSpPr>
        <p:spPr>
          <a:xfrm>
            <a:off x="6501384" y="3927348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4" name="Anim 213"/>
          <p:cNvSpPr/>
          <p:nvPr/>
        </p:nvSpPr>
        <p:spPr>
          <a:xfrm>
            <a:off x="6885432" y="3927348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5" name="Anim 214"/>
          <p:cNvSpPr/>
          <p:nvPr/>
        </p:nvSpPr>
        <p:spPr>
          <a:xfrm>
            <a:off x="7269480" y="3927348"/>
            <a:ext cx="338328" cy="338328"/>
          </a:xfrm>
          <a:prstGeom prst="roundRect">
            <a:avLst>
              <a:gd name="adj" fmla="val 10811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6" name="Anim 215"/>
          <p:cNvSpPr txBox="1"/>
          <p:nvPr/>
        </p:nvSpPr>
        <p:spPr>
          <a:xfrm>
            <a:off x="4498848" y="44348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Dynamically updates cell probabilities as search teams report negative coverage.</a:t>
            </a:r>
            <a:endParaRPr lang="en-US" sz="1400" dirty="0"/>
          </a:p>
        </p:txBody>
      </p:sp>
      <p:sp>
        <p:nvSpPr>
          <p:cNvPr id="107" name="Anim 216"/>
          <p:cNvSpPr txBox="1"/>
          <p:nvPr/>
        </p:nvSpPr>
        <p:spPr>
          <a:xfrm>
            <a:off x="4498848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p′ = p(1−POD) / (1 − p</a:t>
            </a:r>
            <a:pPr indent="0" marL="0">
              <a:buNone/>
            </a:pPr>
            <a:r>
              <a:rPr lang="en-US" sz="1300" baseline="-40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·POD)</a:t>
            </a:r>
            <a:endParaRPr lang="en-US" sz="1300" dirty="0"/>
          </a:p>
        </p:txBody>
      </p:sp>
      <p:sp>
        <p:nvSpPr>
          <p:cNvPr id="108" name="Anim 217"/>
          <p:cNvSpPr/>
          <p:nvPr/>
        </p:nvSpPr>
        <p:spPr>
          <a:xfrm>
            <a:off x="8403336" y="2926080"/>
            <a:ext cx="566928" cy="566928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9" name="Anim 218"/>
          <p:cNvSpPr txBox="1"/>
          <p:nvPr/>
        </p:nvSpPr>
        <p:spPr>
          <a:xfrm>
            <a:off x="8403336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110" name="Anim 219"/>
          <p:cNvSpPr txBox="1"/>
          <p:nvPr/>
        </p:nvSpPr>
        <p:spPr>
          <a:xfrm>
            <a:off x="813816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Powered cruise</a:t>
            </a:r>
            <a:endParaRPr lang="en-US" sz="1400" dirty="0"/>
          </a:p>
        </p:txBody>
      </p:sp>
      <p:sp>
        <p:nvSpPr>
          <p:cNvPr id="111" name="Anim 220"/>
          <p:cNvSpPr/>
          <p:nvPr/>
        </p:nvSpPr>
        <p:spPr>
          <a:xfrm>
            <a:off x="9034272" y="3209544"/>
            <a:ext cx="46634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2" name="Anim 221"/>
          <p:cNvSpPr/>
          <p:nvPr/>
        </p:nvSpPr>
        <p:spPr>
          <a:xfrm>
            <a:off x="9564624" y="2926080"/>
            <a:ext cx="566928" cy="566928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13" name="Anim 222"/>
          <p:cNvSpPr txBox="1"/>
          <p:nvPr/>
        </p:nvSpPr>
        <p:spPr>
          <a:xfrm>
            <a:off x="9564624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</a:t>
            </a:r>
            <a:endParaRPr lang="en-US" sz="2000" dirty="0"/>
          </a:p>
        </p:txBody>
      </p:sp>
      <p:sp>
        <p:nvSpPr>
          <p:cNvPr id="114" name="Anim 223"/>
          <p:cNvSpPr txBox="1"/>
          <p:nvPr/>
        </p:nvSpPr>
        <p:spPr>
          <a:xfrm>
            <a:off x="9299448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Glide phase</a:t>
            </a:r>
            <a:endParaRPr lang="en-US" sz="1400" dirty="0"/>
          </a:p>
        </p:txBody>
      </p:sp>
      <p:sp>
        <p:nvSpPr>
          <p:cNvPr id="115" name="Anim 224"/>
          <p:cNvSpPr/>
          <p:nvPr/>
        </p:nvSpPr>
        <p:spPr>
          <a:xfrm>
            <a:off x="10195560" y="3209544"/>
            <a:ext cx="46634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6" name="Anim 225"/>
          <p:cNvSpPr/>
          <p:nvPr/>
        </p:nvSpPr>
        <p:spPr>
          <a:xfrm>
            <a:off x="10725912" y="2926080"/>
            <a:ext cx="566928" cy="566928"/>
          </a:xfrm>
          <a:prstGeom prst="ellipse">
            <a:avLst/>
          </a:prstGeom>
          <a:solidFill>
            <a:schemeClr val="accent4">
              <a:alpha val="20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17" name="Anim 226"/>
          <p:cNvSpPr txBox="1"/>
          <p:nvPr/>
        </p:nvSpPr>
        <p:spPr>
          <a:xfrm>
            <a:off x="10725912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3</a:t>
            </a:r>
            <a:endParaRPr lang="en-US" sz="2000" dirty="0"/>
          </a:p>
        </p:txBody>
      </p:sp>
      <p:sp>
        <p:nvSpPr>
          <p:cNvPr id="118" name="Anim 227"/>
          <p:cNvSpPr txBox="1"/>
          <p:nvPr/>
        </p:nvSpPr>
        <p:spPr>
          <a:xfrm>
            <a:off x="10460736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Surface drift</a:t>
            </a:r>
            <a:endParaRPr lang="en-US" sz="1400" dirty="0"/>
          </a:p>
        </p:txBody>
      </p:sp>
      <p:sp>
        <p:nvSpPr>
          <p:cNvPr id="119" name="Anim 228"/>
          <p:cNvSpPr txBox="1"/>
          <p:nvPr/>
        </p:nvSpPr>
        <p:spPr>
          <a:xfrm>
            <a:off x="8247888" y="44348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Factors in powered cruise, glide phase, and ocean/surface drift coefficients.</a:t>
            </a:r>
            <a:endParaRPr lang="en-US" sz="1400" dirty="0"/>
          </a:p>
        </p:txBody>
      </p:sp>
      <p:sp>
        <p:nvSpPr>
          <p:cNvPr id="120" name="Anim 229"/>
          <p:cNvSpPr txBox="1"/>
          <p:nvPr/>
        </p:nvSpPr>
        <p:spPr>
          <a:xfrm>
            <a:off x="8247888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L/D ratio · leeway · current set &amp; drift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4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4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4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4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3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3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3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3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3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3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53" presetClass="entr" presetSubtype="16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1" dur="4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4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3" dur="4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53" presetClass="entr" presetSubtype="16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4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4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8" dur="4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nodeType="with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nodeType="withEffect">
                                  <p:stCondLst>
                                    <p:cond delay="246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3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3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3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nodeType="withEffect">
                                  <p:stCondLst>
                                    <p:cond delay="258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3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3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nodeType="withEffect">
                                  <p:stCondLst>
                                    <p:cond delay="274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22" presetClass="entr" presetSubtype="8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3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nodeType="withEffect">
                                  <p:stCondLst>
                                    <p:cond delay="276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3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276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3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nodeType="withEffect">
                                  <p:stCondLst>
                                    <p:cond delay="282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3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nodeType="withEffect">
                                  <p:stCondLst>
                                    <p:cond delay="298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53" presetClass="entr" presetSubtype="16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4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4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3" dur="4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53" presetClass="entr" presetSubtype="16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6" dur="4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4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8" dur="4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ntr" presetSubtype="0" fill="hold" nodeType="withEffect">
                                  <p:stCondLst>
                                    <p:cond delay="314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nodeType="withEffect">
                                  <p:stCondLst>
                                    <p:cond delay="318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ntr" presetSubtype="0" fill="hold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10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10" presetClass="entr" presetSubtype="0" fill="hold" nodeType="withEffect">
                                  <p:stCondLst>
                                    <p:cond delay="326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10" presetClass="entr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10" presetClass="entr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10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10" presetClass="entr" presetSubtype="0" fill="hold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10" presetClass="entr" presetSubtype="0" fill="hold" nodeType="withEffect">
                                  <p:stCondLst>
                                    <p:cond delay="34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10" presetClass="entr" presetSubtype="0" fill="hold" nodeType="withEffect">
                                  <p:stCondLst>
                                    <p:cond delay="346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presetID="10" presetClass="entr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06  TECH STACK &amp; ARCHITECTURE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Built for Speed and Scalability</a:t>
            </a:r>
            <a:endParaRPr lang="en-US" sz="3600" dirty="0"/>
          </a:p>
        </p:txBody>
      </p:sp>
      <p:sp>
        <p:nvSpPr>
          <p:cNvPr id="4" name="Anim 232"/>
          <p:cNvSpPr/>
          <p:nvPr/>
        </p:nvSpPr>
        <p:spPr>
          <a:xfrm>
            <a:off x="548640" y="1783080"/>
            <a:ext cx="3593592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Anim 233"/>
          <p:cNvSpPr txBox="1"/>
          <p:nvPr/>
        </p:nvSpPr>
        <p:spPr>
          <a:xfrm>
            <a:off x="749808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Frontend &amp; Mapping</a:t>
            </a:r>
            <a:endParaRPr lang="en-US" sz="1800" dirty="0"/>
          </a:p>
        </p:txBody>
      </p:sp>
      <p:sp>
        <p:nvSpPr>
          <p:cNvPr id="6" name="Anim 234"/>
          <p:cNvSpPr txBox="1"/>
          <p:nvPr/>
        </p:nvSpPr>
        <p:spPr>
          <a:xfrm>
            <a:off x="749808" y="2423160"/>
            <a:ext cx="1229868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Streamlit</a:t>
            </a:r>
            <a:endParaRPr lang="en-US" sz="1400" dirty="0"/>
          </a:p>
        </p:txBody>
      </p:sp>
      <p:sp>
        <p:nvSpPr>
          <p:cNvPr id="7" name="Anim 235"/>
          <p:cNvSpPr txBox="1"/>
          <p:nvPr/>
        </p:nvSpPr>
        <p:spPr>
          <a:xfrm>
            <a:off x="2089404" y="2423160"/>
            <a:ext cx="1037844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Leaflet</a:t>
            </a:r>
            <a:endParaRPr lang="en-US" sz="1400" dirty="0"/>
          </a:p>
        </p:txBody>
      </p:sp>
      <p:sp>
        <p:nvSpPr>
          <p:cNvPr id="8" name="Anim 236"/>
          <p:cNvSpPr txBox="1"/>
          <p:nvPr/>
        </p:nvSpPr>
        <p:spPr>
          <a:xfrm>
            <a:off x="749808" y="2880360"/>
            <a:ext cx="941832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Folium</a:t>
            </a:r>
            <a:endParaRPr lang="en-US" sz="1400" dirty="0"/>
          </a:p>
        </p:txBody>
      </p:sp>
      <p:sp>
        <p:nvSpPr>
          <p:cNvPr id="9" name="Anim 237"/>
          <p:cNvSpPr txBox="1"/>
          <p:nvPr/>
        </p:nvSpPr>
        <p:spPr>
          <a:xfrm>
            <a:off x="749808" y="3383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Rapid dashboard deployment + interactive search polygon rendering.</a:t>
            </a:r>
            <a:endParaRPr lang="en-US" sz="1400" dirty="0"/>
          </a:p>
        </p:txBody>
      </p:sp>
      <p:sp>
        <p:nvSpPr>
          <p:cNvPr id="10" name="Anim 238"/>
          <p:cNvSpPr/>
          <p:nvPr/>
        </p:nvSpPr>
        <p:spPr>
          <a:xfrm>
            <a:off x="4297680" y="1783080"/>
            <a:ext cx="3593592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Anim 239"/>
          <p:cNvSpPr txBox="1"/>
          <p:nvPr/>
        </p:nvSpPr>
        <p:spPr>
          <a:xfrm>
            <a:off x="4498848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Backend &amp; Math</a:t>
            </a:r>
            <a:endParaRPr lang="en-US" sz="1800" dirty="0"/>
          </a:p>
        </p:txBody>
      </p:sp>
      <p:sp>
        <p:nvSpPr>
          <p:cNvPr id="12" name="Anim 240"/>
          <p:cNvSpPr txBox="1"/>
          <p:nvPr/>
        </p:nvSpPr>
        <p:spPr>
          <a:xfrm>
            <a:off x="4498848" y="2423160"/>
            <a:ext cx="941832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</a:t>
            </a:r>
            <a:endParaRPr lang="en-US" sz="1400" dirty="0"/>
          </a:p>
        </p:txBody>
      </p:sp>
      <p:sp>
        <p:nvSpPr>
          <p:cNvPr id="13" name="Anim 241"/>
          <p:cNvSpPr txBox="1"/>
          <p:nvPr/>
        </p:nvSpPr>
        <p:spPr>
          <a:xfrm>
            <a:off x="5550408" y="2423160"/>
            <a:ext cx="84582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NumPy</a:t>
            </a:r>
            <a:endParaRPr lang="en-US" sz="1400" dirty="0"/>
          </a:p>
        </p:txBody>
      </p:sp>
      <p:sp>
        <p:nvSpPr>
          <p:cNvPr id="14" name="Anim 242"/>
          <p:cNvSpPr txBox="1"/>
          <p:nvPr/>
        </p:nvSpPr>
        <p:spPr>
          <a:xfrm>
            <a:off x="6505956" y="2423160"/>
            <a:ext cx="84582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GeoPy</a:t>
            </a:r>
            <a:endParaRPr lang="en-US" sz="1400" dirty="0"/>
          </a:p>
        </p:txBody>
      </p:sp>
      <p:sp>
        <p:nvSpPr>
          <p:cNvPr id="15" name="Anim 243"/>
          <p:cNvSpPr txBox="1"/>
          <p:nvPr/>
        </p:nvSpPr>
        <p:spPr>
          <a:xfrm>
            <a:off x="4498848" y="2880360"/>
            <a:ext cx="1037844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Shapely</a:t>
            </a:r>
            <a:endParaRPr lang="en-US" sz="1400" dirty="0"/>
          </a:p>
        </p:txBody>
      </p:sp>
      <p:sp>
        <p:nvSpPr>
          <p:cNvPr id="16" name="Anim 244"/>
          <p:cNvSpPr txBox="1"/>
          <p:nvPr/>
        </p:nvSpPr>
        <p:spPr>
          <a:xfrm>
            <a:off x="4498848" y="3383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High-performance geospatial vector calculations.</a:t>
            </a:r>
            <a:endParaRPr lang="en-US" sz="1400" dirty="0"/>
          </a:p>
        </p:txBody>
      </p:sp>
      <p:sp>
        <p:nvSpPr>
          <p:cNvPr id="17" name="Anim 245"/>
          <p:cNvSpPr/>
          <p:nvPr/>
        </p:nvSpPr>
        <p:spPr>
          <a:xfrm>
            <a:off x="8046720" y="1783080"/>
            <a:ext cx="3593592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Anim 246"/>
          <p:cNvSpPr txBox="1"/>
          <p:nvPr/>
        </p:nvSpPr>
        <p:spPr>
          <a:xfrm>
            <a:off x="8247888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Weather Integration</a:t>
            </a:r>
            <a:endParaRPr lang="en-US" sz="1800" dirty="0"/>
          </a:p>
        </p:txBody>
      </p:sp>
      <p:sp>
        <p:nvSpPr>
          <p:cNvPr id="19" name="Anim 247"/>
          <p:cNvSpPr txBox="1"/>
          <p:nvPr/>
        </p:nvSpPr>
        <p:spPr>
          <a:xfrm>
            <a:off x="8247888" y="2423160"/>
            <a:ext cx="2382012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Aviation Weather APIs</a:t>
            </a:r>
            <a:endParaRPr lang="en-US" sz="1400" dirty="0"/>
          </a:p>
        </p:txBody>
      </p:sp>
      <p:sp>
        <p:nvSpPr>
          <p:cNvPr id="20" name="Anim 248"/>
          <p:cNvSpPr txBox="1"/>
          <p:nvPr/>
        </p:nvSpPr>
        <p:spPr>
          <a:xfrm>
            <a:off x="8247888" y="2880360"/>
            <a:ext cx="1421892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Winds Aloft</a:t>
            </a:r>
            <a:endParaRPr lang="en-US" sz="1400" dirty="0"/>
          </a:p>
        </p:txBody>
      </p:sp>
      <p:sp>
        <p:nvSpPr>
          <p:cNvPr id="21" name="Anim 249"/>
          <p:cNvSpPr txBox="1"/>
          <p:nvPr/>
        </p:nvSpPr>
        <p:spPr>
          <a:xfrm>
            <a:off x="8247888" y="3383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Live aviation weather APIs for real-time wind-aloft data.</a:t>
            </a:r>
            <a:endParaRPr lang="en-US" sz="1400" dirty="0"/>
          </a:p>
        </p:txBody>
      </p:sp>
      <p:sp>
        <p:nvSpPr>
          <p:cNvPr id="22" name="Anim 250"/>
          <p:cNvSpPr txBox="1"/>
          <p:nvPr/>
        </p:nvSpPr>
        <p:spPr>
          <a:xfrm>
            <a:off x="548640" y="4407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PIPELINE</a:t>
            </a:r>
            <a:endParaRPr lang="en-US" sz="1200" dirty="0"/>
          </a:p>
        </p:txBody>
      </p:sp>
      <p:sp>
        <p:nvSpPr>
          <p:cNvPr id="23" name="Anim 251"/>
          <p:cNvSpPr/>
          <p:nvPr/>
        </p:nvSpPr>
        <p:spPr>
          <a:xfrm>
            <a:off x="548640" y="470916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Anim 252"/>
          <p:cNvSpPr txBox="1"/>
          <p:nvPr/>
        </p:nvSpPr>
        <p:spPr>
          <a:xfrm>
            <a:off x="713232" y="4818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01</a:t>
            </a:r>
            <a:endParaRPr lang="en-US" sz="2000" dirty="0"/>
          </a:p>
        </p:txBody>
      </p:sp>
      <p:sp>
        <p:nvSpPr>
          <p:cNvPr id="25" name="Anim 253"/>
          <p:cNvSpPr txBox="1"/>
          <p:nvPr/>
        </p:nvSpPr>
        <p:spPr>
          <a:xfrm>
            <a:off x="713232" y="5257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Ingest flight params</a:t>
            </a:r>
            <a:endParaRPr lang="en-US" sz="1400" dirty="0"/>
          </a:p>
        </p:txBody>
      </p:sp>
      <p:sp>
        <p:nvSpPr>
          <p:cNvPr id="26" name="Anim 254"/>
          <p:cNvSpPr/>
          <p:nvPr/>
        </p:nvSpPr>
        <p:spPr>
          <a:xfrm>
            <a:off x="2419502" y="470916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Anim 255"/>
          <p:cNvSpPr txBox="1"/>
          <p:nvPr/>
        </p:nvSpPr>
        <p:spPr>
          <a:xfrm>
            <a:off x="2584094" y="4818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</a:t>
            </a:r>
            <a:endParaRPr lang="en-US" sz="2000" dirty="0"/>
          </a:p>
        </p:txBody>
      </p:sp>
      <p:sp>
        <p:nvSpPr>
          <p:cNvPr id="28" name="Anim 256"/>
          <p:cNvSpPr txBox="1"/>
          <p:nvPr/>
        </p:nvSpPr>
        <p:spPr>
          <a:xfrm>
            <a:off x="2584094" y="5257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Fetch winds aloft</a:t>
            </a:r>
            <a:endParaRPr lang="en-US" sz="1400" dirty="0"/>
          </a:p>
        </p:txBody>
      </p:sp>
      <p:sp>
        <p:nvSpPr>
          <p:cNvPr id="29" name="Anim 257"/>
          <p:cNvSpPr/>
          <p:nvPr/>
        </p:nvSpPr>
        <p:spPr>
          <a:xfrm>
            <a:off x="4290365" y="470916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Anim 258"/>
          <p:cNvSpPr txBox="1"/>
          <p:nvPr/>
        </p:nvSpPr>
        <p:spPr>
          <a:xfrm>
            <a:off x="4454957" y="4818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03</a:t>
            </a:r>
            <a:endParaRPr lang="en-US" sz="2000" dirty="0"/>
          </a:p>
        </p:txBody>
      </p:sp>
      <p:sp>
        <p:nvSpPr>
          <p:cNvPr id="31" name="Anim 259"/>
          <p:cNvSpPr txBox="1"/>
          <p:nvPr/>
        </p:nvSpPr>
        <p:spPr>
          <a:xfrm>
            <a:off x="4454957" y="5257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Vectorised drift (NumPy)</a:t>
            </a:r>
            <a:endParaRPr lang="en-US" sz="1400" dirty="0"/>
          </a:p>
        </p:txBody>
      </p:sp>
      <p:sp>
        <p:nvSpPr>
          <p:cNvPr id="32" name="Anim 260"/>
          <p:cNvSpPr/>
          <p:nvPr/>
        </p:nvSpPr>
        <p:spPr>
          <a:xfrm>
            <a:off x="6161227" y="470916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3" name="Anim 261"/>
          <p:cNvSpPr txBox="1"/>
          <p:nvPr/>
        </p:nvSpPr>
        <p:spPr>
          <a:xfrm>
            <a:off x="6325819" y="4818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04</a:t>
            </a:r>
            <a:endParaRPr lang="en-US" sz="2000" dirty="0"/>
          </a:p>
        </p:txBody>
      </p:sp>
      <p:sp>
        <p:nvSpPr>
          <p:cNvPr id="34" name="Anim 262"/>
          <p:cNvSpPr txBox="1"/>
          <p:nvPr/>
        </p:nvSpPr>
        <p:spPr>
          <a:xfrm>
            <a:off x="6325819" y="5257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Geodesic projection (GeoPy)</a:t>
            </a:r>
            <a:endParaRPr lang="en-US" sz="1400" dirty="0"/>
          </a:p>
        </p:txBody>
      </p:sp>
      <p:sp>
        <p:nvSpPr>
          <p:cNvPr id="35" name="Anim 263"/>
          <p:cNvSpPr/>
          <p:nvPr/>
        </p:nvSpPr>
        <p:spPr>
          <a:xfrm>
            <a:off x="8032090" y="470916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6" name="Anim 264"/>
          <p:cNvSpPr txBox="1"/>
          <p:nvPr/>
        </p:nvSpPr>
        <p:spPr>
          <a:xfrm>
            <a:off x="8196682" y="4818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05</a:t>
            </a:r>
            <a:endParaRPr lang="en-US" sz="2000" dirty="0"/>
          </a:p>
        </p:txBody>
      </p:sp>
      <p:sp>
        <p:nvSpPr>
          <p:cNvPr id="37" name="Anim 265"/>
          <p:cNvSpPr txBox="1"/>
          <p:nvPr/>
        </p:nvSpPr>
        <p:spPr>
          <a:xfrm>
            <a:off x="8196682" y="5257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Polygon ops (Shapely)</a:t>
            </a:r>
            <a:endParaRPr lang="en-US" sz="1400" dirty="0"/>
          </a:p>
        </p:txBody>
      </p:sp>
      <p:sp>
        <p:nvSpPr>
          <p:cNvPr id="38" name="Anim 266"/>
          <p:cNvSpPr/>
          <p:nvPr/>
        </p:nvSpPr>
        <p:spPr>
          <a:xfrm>
            <a:off x="9902952" y="470916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9" name="Anim 267"/>
          <p:cNvSpPr txBox="1"/>
          <p:nvPr/>
        </p:nvSpPr>
        <p:spPr>
          <a:xfrm>
            <a:off x="10067544" y="4818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06</a:t>
            </a:r>
            <a:endParaRPr lang="en-US" sz="2000" dirty="0"/>
          </a:p>
        </p:txBody>
      </p:sp>
      <p:sp>
        <p:nvSpPr>
          <p:cNvPr id="40" name="Anim 268"/>
          <p:cNvSpPr txBox="1"/>
          <p:nvPr/>
        </p:nvSpPr>
        <p:spPr>
          <a:xfrm>
            <a:off x="10067544" y="5257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Render &amp; export (Folium)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nodeType="with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nodeType="with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35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nodeType="withEffect">
                                  <p:stCondLst>
                                    <p:cond delay="41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nodeType="withEffect">
                                  <p:stCondLst>
                                    <p:cond delay="41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07  USER WORKFLOW &amp; UX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Designed for High-Stress Command Centers</a:t>
            </a:r>
            <a:endParaRPr lang="en-US" sz="3600" dirty="0"/>
          </a:p>
        </p:txBody>
      </p:sp>
      <p:sp>
        <p:nvSpPr>
          <p:cNvPr id="4" name="Anim 271"/>
          <p:cNvSpPr/>
          <p:nvPr/>
        </p:nvSpPr>
        <p:spPr>
          <a:xfrm>
            <a:off x="548640" y="1783080"/>
            <a:ext cx="3502152" cy="361188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Anim 272"/>
          <p:cNvSpPr txBox="1"/>
          <p:nvPr/>
        </p:nvSpPr>
        <p:spPr>
          <a:xfrm>
            <a:off x="777240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1</a:t>
            </a:r>
            <a:endParaRPr lang="en-US" sz="1200" dirty="0"/>
          </a:p>
        </p:txBody>
      </p:sp>
      <p:sp>
        <p:nvSpPr>
          <p:cNvPr id="6" name="Anim 273"/>
          <p:cNvSpPr txBox="1"/>
          <p:nvPr/>
        </p:nvSpPr>
        <p:spPr>
          <a:xfrm>
            <a:off x="7772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Input</a:t>
            </a:r>
            <a:endParaRPr lang="en-US" sz="2600" dirty="0"/>
          </a:p>
        </p:txBody>
      </p:sp>
      <p:sp>
        <p:nvSpPr>
          <p:cNvPr id="7" name="Anim 274"/>
          <p:cNvSpPr txBox="1"/>
          <p:nvPr/>
        </p:nvSpPr>
        <p:spPr>
          <a:xfrm>
            <a:off x="777240" y="2743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Input flight parameters into a clean, intuitive control panel.</a:t>
            </a:r>
            <a:endParaRPr lang="en-US" sz="1400" dirty="0"/>
          </a:p>
        </p:txBody>
      </p:sp>
      <p:sp>
        <p:nvSpPr>
          <p:cNvPr id="8" name="Anim 275"/>
          <p:cNvSpPr/>
          <p:nvPr/>
        </p:nvSpPr>
        <p:spPr>
          <a:xfrm>
            <a:off x="4343400" y="1783080"/>
            <a:ext cx="3502152" cy="361188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Anim 276"/>
          <p:cNvSpPr txBox="1"/>
          <p:nvPr/>
        </p:nvSpPr>
        <p:spPr>
          <a:xfrm>
            <a:off x="4572000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2</a:t>
            </a:r>
            <a:endParaRPr lang="en-US" sz="1200" dirty="0"/>
          </a:p>
        </p:txBody>
      </p:sp>
      <p:sp>
        <p:nvSpPr>
          <p:cNvPr id="10" name="Anim 277"/>
          <p:cNvSpPr txBox="1"/>
          <p:nvPr/>
        </p:nvSpPr>
        <p:spPr>
          <a:xfrm>
            <a:off x="45720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Compute</a:t>
            </a:r>
            <a:endParaRPr lang="en-US" sz="2600" dirty="0"/>
          </a:p>
        </p:txBody>
      </p:sp>
      <p:sp>
        <p:nvSpPr>
          <p:cNvPr id="11" name="Anim 278"/>
          <p:cNvSpPr txBox="1"/>
          <p:nvPr/>
        </p:nvSpPr>
        <p:spPr>
          <a:xfrm>
            <a:off x="4572000" y="2743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Instant background calculation of drift vectors and confidence intervals.</a:t>
            </a:r>
            <a:endParaRPr lang="en-US" sz="1400" dirty="0"/>
          </a:p>
        </p:txBody>
      </p:sp>
      <p:sp>
        <p:nvSpPr>
          <p:cNvPr id="12" name="Anim 279"/>
          <p:cNvSpPr/>
          <p:nvPr/>
        </p:nvSpPr>
        <p:spPr>
          <a:xfrm>
            <a:off x="8138160" y="1783080"/>
            <a:ext cx="3502152" cy="361188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Anim 280"/>
          <p:cNvSpPr txBox="1"/>
          <p:nvPr/>
        </p:nvSpPr>
        <p:spPr>
          <a:xfrm>
            <a:off x="8366760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3</a:t>
            </a:r>
            <a:endParaRPr lang="en-US" sz="1200" dirty="0"/>
          </a:p>
        </p:txBody>
      </p:sp>
      <p:sp>
        <p:nvSpPr>
          <p:cNvPr id="14" name="Anim 281"/>
          <p:cNvSpPr txBox="1"/>
          <p:nvPr/>
        </p:nvSpPr>
        <p:spPr>
          <a:xfrm>
            <a:off x="836676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Export</a:t>
            </a:r>
            <a:endParaRPr lang="en-US" sz="2600" dirty="0"/>
          </a:p>
        </p:txBody>
      </p:sp>
      <p:sp>
        <p:nvSpPr>
          <p:cNvPr id="15" name="Anim 282"/>
          <p:cNvSpPr txBox="1"/>
          <p:nvPr/>
        </p:nvSpPr>
        <p:spPr>
          <a:xfrm>
            <a:off x="8366760" y="2743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One-click export of bounding polygons to search aircraft navigation systems.</a:t>
            </a:r>
            <a:endParaRPr lang="en-US" sz="1400" dirty="0"/>
          </a:p>
        </p:txBody>
      </p:sp>
      <p:sp>
        <p:nvSpPr>
          <p:cNvPr id="16" name="Anim 283"/>
          <p:cNvSpPr/>
          <p:nvPr/>
        </p:nvSpPr>
        <p:spPr>
          <a:xfrm>
            <a:off x="777240" y="3749040"/>
            <a:ext cx="3044952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Anim 284"/>
          <p:cNvSpPr txBox="1"/>
          <p:nvPr/>
        </p:nvSpPr>
        <p:spPr>
          <a:xfrm>
            <a:off x="914400" y="38404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LKP</a:t>
            </a:r>
            <a:endParaRPr lang="en-US" sz="1200" dirty="0"/>
          </a:p>
        </p:txBody>
      </p:sp>
      <p:sp>
        <p:nvSpPr>
          <p:cNvPr id="18" name="Anim 285"/>
          <p:cNvSpPr txBox="1"/>
          <p:nvPr/>
        </p:nvSpPr>
        <p:spPr>
          <a:xfrm>
            <a:off x="1600200" y="38404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34.0522, −118.2437</a:t>
            </a:r>
            <a:endParaRPr lang="en-US" sz="1300" dirty="0"/>
          </a:p>
        </p:txBody>
      </p:sp>
      <p:sp>
        <p:nvSpPr>
          <p:cNvPr id="19" name="Anim 286"/>
          <p:cNvSpPr txBox="1"/>
          <p:nvPr/>
        </p:nvSpPr>
        <p:spPr>
          <a:xfrm>
            <a:off x="914400" y="41696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TAS</a:t>
            </a:r>
            <a:endParaRPr lang="en-US" sz="1200" dirty="0"/>
          </a:p>
        </p:txBody>
      </p:sp>
      <p:sp>
        <p:nvSpPr>
          <p:cNvPr id="20" name="Anim 287"/>
          <p:cNvSpPr txBox="1"/>
          <p:nvPr/>
        </p:nvSpPr>
        <p:spPr>
          <a:xfrm>
            <a:off x="1600200" y="41696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 kt</a:t>
            </a:r>
            <a:endParaRPr lang="en-US" sz="1300" dirty="0"/>
          </a:p>
        </p:txBody>
      </p:sp>
      <p:sp>
        <p:nvSpPr>
          <p:cNvPr id="21" name="Anim 288"/>
          <p:cNvSpPr txBox="1"/>
          <p:nvPr/>
        </p:nvSpPr>
        <p:spPr>
          <a:xfrm>
            <a:off x="914400" y="44988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HDG</a:t>
            </a:r>
            <a:endParaRPr lang="en-US" sz="1200" dirty="0"/>
          </a:p>
        </p:txBody>
      </p:sp>
      <p:sp>
        <p:nvSpPr>
          <p:cNvPr id="22" name="Anim 289"/>
          <p:cNvSpPr txBox="1"/>
          <p:nvPr/>
        </p:nvSpPr>
        <p:spPr>
          <a:xfrm>
            <a:off x="1600200" y="44988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247°</a:t>
            </a:r>
            <a:endParaRPr lang="en-US" sz="1300" dirty="0"/>
          </a:p>
        </p:txBody>
      </p:sp>
      <p:sp>
        <p:nvSpPr>
          <p:cNvPr id="23" name="Anim 290"/>
          <p:cNvSpPr txBox="1"/>
          <p:nvPr/>
        </p:nvSpPr>
        <p:spPr>
          <a:xfrm>
            <a:off x="914400" y="48280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FUEL</a:t>
            </a:r>
            <a:endParaRPr lang="en-US" sz="1200" dirty="0"/>
          </a:p>
        </p:txBody>
      </p:sp>
      <p:sp>
        <p:nvSpPr>
          <p:cNvPr id="24" name="Anim 291"/>
          <p:cNvSpPr txBox="1"/>
          <p:nvPr/>
        </p:nvSpPr>
        <p:spPr>
          <a:xfrm>
            <a:off x="1600200" y="48280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 h</a:t>
            </a:r>
            <a:endParaRPr lang="en-US" sz="1300" dirty="0"/>
          </a:p>
        </p:txBody>
      </p:sp>
      <p:sp>
        <p:nvSpPr>
          <p:cNvPr id="25" name="Anim 292"/>
          <p:cNvSpPr txBox="1"/>
          <p:nvPr/>
        </p:nvSpPr>
        <p:spPr>
          <a:xfrm>
            <a:off x="4572000" y="3794760"/>
            <a:ext cx="1417320" cy="502920"/>
          </a:xfrm>
          <a:prstGeom prst="roundRect">
            <a:avLst>
              <a:gd name="adj" fmla="val 18182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accent4"/>
                </a:solidFill>
              </a:rPr>
              <a:t>Datum</a:t>
            </a:r>
            <a:endParaRPr lang="en-US" sz="1400" dirty="0"/>
          </a:p>
        </p:txBody>
      </p:sp>
      <p:sp>
        <p:nvSpPr>
          <p:cNvPr id="26" name="Anim 293"/>
          <p:cNvSpPr txBox="1"/>
          <p:nvPr/>
        </p:nvSpPr>
        <p:spPr>
          <a:xfrm>
            <a:off x="6108192" y="3794760"/>
            <a:ext cx="1417320" cy="502920"/>
          </a:xfrm>
          <a:prstGeom prst="roundRect">
            <a:avLst>
              <a:gd name="adj" fmla="val 18182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accent4"/>
                </a:solidFill>
              </a:rPr>
              <a:t>Drift</a:t>
            </a:r>
            <a:endParaRPr lang="en-US" sz="1400" dirty="0"/>
          </a:p>
        </p:txBody>
      </p:sp>
      <p:sp>
        <p:nvSpPr>
          <p:cNvPr id="27" name="Anim 294"/>
          <p:cNvSpPr txBox="1"/>
          <p:nvPr/>
        </p:nvSpPr>
        <p:spPr>
          <a:xfrm>
            <a:off x="4572000" y="4453128"/>
            <a:ext cx="1417320" cy="502920"/>
          </a:xfrm>
          <a:prstGeom prst="roundRect">
            <a:avLst>
              <a:gd name="adj" fmla="val 18182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accent4"/>
                </a:solidFill>
              </a:rPr>
              <a:t>CI 50/90%</a:t>
            </a:r>
            <a:endParaRPr lang="en-US" sz="1400" dirty="0"/>
          </a:p>
        </p:txBody>
      </p:sp>
      <p:sp>
        <p:nvSpPr>
          <p:cNvPr id="28" name="Anim 295"/>
          <p:cNvSpPr txBox="1"/>
          <p:nvPr/>
        </p:nvSpPr>
        <p:spPr>
          <a:xfrm>
            <a:off x="6108192" y="4453128"/>
            <a:ext cx="1417320" cy="502920"/>
          </a:xfrm>
          <a:prstGeom prst="roundRect">
            <a:avLst>
              <a:gd name="adj" fmla="val 18182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accent4"/>
                </a:solidFill>
              </a:rPr>
              <a:t>Particles</a:t>
            </a:r>
            <a:endParaRPr lang="en-US" sz="1400" dirty="0"/>
          </a:p>
        </p:txBody>
      </p:sp>
      <p:sp>
        <p:nvSpPr>
          <p:cNvPr id="29" name="Anim 296"/>
          <p:cNvSpPr/>
          <p:nvPr/>
        </p:nvSpPr>
        <p:spPr>
          <a:xfrm>
            <a:off x="8366760" y="3794760"/>
            <a:ext cx="301752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Anim 29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3950208"/>
            <a:ext cx="237744" cy="237744"/>
          </a:xfrm>
          <a:prstGeom prst="rect">
            <a:avLst/>
          </a:prstGeom>
        </p:spPr>
      </p:pic>
      <p:sp>
        <p:nvSpPr>
          <p:cNvPr id="31" name="Anim 298"/>
          <p:cNvSpPr txBox="1"/>
          <p:nvPr/>
        </p:nvSpPr>
        <p:spPr>
          <a:xfrm>
            <a:off x="905256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Export Search Polygon</a:t>
            </a:r>
            <a:endParaRPr lang="en-US" sz="1400" dirty="0"/>
          </a:p>
        </p:txBody>
      </p:sp>
      <p:sp>
        <p:nvSpPr>
          <p:cNvPr id="32" name="Anim 299"/>
          <p:cNvSpPr txBox="1"/>
          <p:nvPr/>
        </p:nvSpPr>
        <p:spPr>
          <a:xfrm>
            <a:off x="8366760" y="4572000"/>
            <a:ext cx="73152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GPX</a:t>
            </a:r>
            <a:endParaRPr lang="en-US" sz="1400" dirty="0"/>
          </a:p>
        </p:txBody>
      </p:sp>
      <p:sp>
        <p:nvSpPr>
          <p:cNvPr id="33" name="Anim 300"/>
          <p:cNvSpPr txBox="1"/>
          <p:nvPr/>
        </p:nvSpPr>
        <p:spPr>
          <a:xfrm>
            <a:off x="9208008" y="4572000"/>
            <a:ext cx="73152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KML</a:t>
            </a:r>
            <a:endParaRPr lang="en-US" sz="1400" dirty="0"/>
          </a:p>
        </p:txBody>
      </p:sp>
      <p:sp>
        <p:nvSpPr>
          <p:cNvPr id="34" name="Anim 301"/>
          <p:cNvSpPr txBox="1"/>
          <p:nvPr/>
        </p:nvSpPr>
        <p:spPr>
          <a:xfrm>
            <a:off x="10049256" y="4572000"/>
            <a:ext cx="109728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GeoJSON</a:t>
            </a:r>
            <a:endParaRPr lang="en-US" sz="1400" dirty="0"/>
          </a:p>
        </p:txBody>
      </p:sp>
      <p:sp>
        <p:nvSpPr>
          <p:cNvPr id="35" name="Anim 302"/>
          <p:cNvSpPr/>
          <p:nvPr/>
        </p:nvSpPr>
        <p:spPr>
          <a:xfrm>
            <a:off x="4050792" y="3566160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Anim 303"/>
          <p:cNvSpPr/>
          <p:nvPr/>
        </p:nvSpPr>
        <p:spPr>
          <a:xfrm>
            <a:off x="7845552" y="3566160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7" name="Anim 304"/>
          <p:cNvSpPr/>
          <p:nvPr/>
        </p:nvSpPr>
        <p:spPr>
          <a:xfrm>
            <a:off x="548640" y="5669280"/>
            <a:ext cx="182880" cy="182880"/>
          </a:xfrm>
          <a:prstGeom prst="diamond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Anim 305"/>
          <p:cNvSpPr txBox="1"/>
          <p:nvPr/>
        </p:nvSpPr>
        <p:spPr>
          <a:xfrm>
            <a:off x="868680" y="5577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Three steps. Minimal inputs. Zero manual plotting.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nodeType="withEffect">
                                  <p:stCondLst>
                                    <p:cond delay="30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nodeType="withEffect">
                                  <p:stCondLst>
                                    <p:cond delay="41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3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08  HACKATHON IMPACT &amp; ROADMAP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Ready for Deployment</a:t>
            </a:r>
            <a:endParaRPr lang="en-US" sz="3600" dirty="0"/>
          </a:p>
        </p:txBody>
      </p:sp>
      <p:sp>
        <p:nvSpPr>
          <p:cNvPr id="4" name="Anim 308"/>
          <p:cNvSpPr/>
          <p:nvPr/>
        </p:nvSpPr>
        <p:spPr>
          <a:xfrm>
            <a:off x="2345436" y="2331720"/>
            <a:ext cx="749808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</a:ln>
        </p:spPr>
      </p:sp>
      <p:sp>
        <p:nvSpPr>
          <p:cNvPr id="5" name="Anim 309"/>
          <p:cNvSpPr txBox="1"/>
          <p:nvPr/>
        </p:nvSpPr>
        <p:spPr>
          <a:xfrm>
            <a:off x="1796796" y="1783080"/>
            <a:ext cx="1097280" cy="329184"/>
          </a:xfrm>
          <a:prstGeom prst="roundRect">
            <a:avLst>
              <a:gd name="adj" fmla="val 50000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4"/>
                </a:solidFill>
              </a:rPr>
              <a:t>NOW</a:t>
            </a:r>
            <a:endParaRPr lang="en-US" sz="1400" dirty="0"/>
          </a:p>
        </p:txBody>
      </p:sp>
      <p:sp>
        <p:nvSpPr>
          <p:cNvPr id="6" name="Anim 310"/>
          <p:cNvSpPr/>
          <p:nvPr/>
        </p:nvSpPr>
        <p:spPr>
          <a:xfrm>
            <a:off x="2189988" y="2176272"/>
            <a:ext cx="310896" cy="310896"/>
          </a:xfrm>
          <a:prstGeom prst="ellipse">
            <a:avLst/>
          </a:prstGeom>
          <a:solidFill>
            <a:schemeClr val="accent4"/>
          </a:solidFill>
          <a:ln w="31750">
            <a:solidFill>
              <a:schemeClr val="accent4"/>
            </a:solidFill>
            <a:prstDash val="solid"/>
          </a:ln>
        </p:spPr>
      </p:sp>
      <p:sp>
        <p:nvSpPr>
          <p:cNvPr id="7" name="Anim 311"/>
          <p:cNvSpPr/>
          <p:nvPr/>
        </p:nvSpPr>
        <p:spPr>
          <a:xfrm>
            <a:off x="548640" y="2834640"/>
            <a:ext cx="3593592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Anim 312"/>
          <p:cNvSpPr txBox="1"/>
          <p:nvPr/>
        </p:nvSpPr>
        <p:spPr>
          <a:xfrm>
            <a:off x="777240" y="30175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Hackathon Milestone</a:t>
            </a:r>
            <a:endParaRPr lang="en-US" sz="2200" dirty="0"/>
          </a:p>
        </p:txBody>
      </p:sp>
      <p:sp>
        <p:nvSpPr>
          <p:cNvPr id="9" name="Anim 313"/>
          <p:cNvSpPr txBox="1"/>
          <p:nvPr/>
        </p:nvSpPr>
        <p:spPr>
          <a:xfrm>
            <a:off x="777240" y="3566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Functional prototype built and tested with simulated flight profiles.</a:t>
            </a:r>
            <a:endParaRPr lang="en-US" sz="1600" dirty="0"/>
          </a:p>
        </p:txBody>
      </p:sp>
      <p:sp>
        <p:nvSpPr>
          <p:cNvPr id="10" name="Anim 314"/>
          <p:cNvSpPr/>
          <p:nvPr/>
        </p:nvSpPr>
        <p:spPr>
          <a:xfrm>
            <a:off x="777240" y="4983480"/>
            <a:ext cx="1463040" cy="411480"/>
          </a:xfrm>
          <a:prstGeom prst="roundRect">
            <a:avLst>
              <a:gd name="adj" fmla="val 48889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Anim 31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5093208"/>
            <a:ext cx="192024" cy="192024"/>
          </a:xfrm>
          <a:prstGeom prst="rect">
            <a:avLst/>
          </a:prstGeom>
        </p:spPr>
      </p:pic>
      <p:sp>
        <p:nvSpPr>
          <p:cNvPr id="12" name="Anim 316"/>
          <p:cNvSpPr txBox="1"/>
          <p:nvPr/>
        </p:nvSpPr>
        <p:spPr>
          <a:xfrm>
            <a:off x="1234440" y="4983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Shipped</a:t>
            </a:r>
            <a:endParaRPr lang="en-US" sz="1400" dirty="0"/>
          </a:p>
        </p:txBody>
      </p:sp>
      <p:sp>
        <p:nvSpPr>
          <p:cNvPr id="13" name="Anim 317"/>
          <p:cNvSpPr txBox="1"/>
          <p:nvPr/>
        </p:nvSpPr>
        <p:spPr>
          <a:xfrm>
            <a:off x="5545836" y="1783080"/>
            <a:ext cx="1097280" cy="329184"/>
          </a:xfrm>
          <a:prstGeom prst="roundRect">
            <a:avLst>
              <a:gd name="adj" fmla="val 50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NEXT</a:t>
            </a:r>
            <a:endParaRPr lang="en-US" sz="1400" dirty="0"/>
          </a:p>
        </p:txBody>
      </p:sp>
      <p:sp>
        <p:nvSpPr>
          <p:cNvPr id="14" name="Anim 318"/>
          <p:cNvSpPr/>
          <p:nvPr/>
        </p:nvSpPr>
        <p:spPr>
          <a:xfrm>
            <a:off x="5939028" y="2176272"/>
            <a:ext cx="310896" cy="310896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15" name="Anim 319"/>
          <p:cNvSpPr/>
          <p:nvPr/>
        </p:nvSpPr>
        <p:spPr>
          <a:xfrm>
            <a:off x="4297680" y="2834640"/>
            <a:ext cx="3593592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Anim 320"/>
          <p:cNvSpPr txBox="1"/>
          <p:nvPr/>
        </p:nvSpPr>
        <p:spPr>
          <a:xfrm>
            <a:off x="4526280" y="30175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Immediate Value</a:t>
            </a:r>
            <a:endParaRPr lang="en-US" sz="2200" dirty="0"/>
          </a:p>
        </p:txBody>
      </p:sp>
      <p:sp>
        <p:nvSpPr>
          <p:cNvPr id="17" name="Anim 321"/>
          <p:cNvSpPr txBox="1"/>
          <p:nvPr/>
        </p:nvSpPr>
        <p:spPr>
          <a:xfrm>
            <a:off x="4526280" y="3566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Can be integrated into local Civil Air Patrol operations or flight tracking apps.</a:t>
            </a:r>
            <a:endParaRPr lang="en-US" sz="1600" dirty="0"/>
          </a:p>
        </p:txBody>
      </p:sp>
      <p:sp>
        <p:nvSpPr>
          <p:cNvPr id="18" name="Anim 322"/>
          <p:cNvSpPr/>
          <p:nvPr/>
        </p:nvSpPr>
        <p:spPr>
          <a:xfrm>
            <a:off x="4526280" y="4983480"/>
            <a:ext cx="1463040" cy="411480"/>
          </a:xfrm>
          <a:prstGeom prst="roundRect">
            <a:avLst>
              <a:gd name="adj" fmla="val 48889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Anim 32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5093208"/>
            <a:ext cx="192024" cy="192024"/>
          </a:xfrm>
          <a:prstGeom prst="rect">
            <a:avLst/>
          </a:prstGeom>
        </p:spPr>
      </p:pic>
      <p:sp>
        <p:nvSpPr>
          <p:cNvPr id="20" name="Anim 324"/>
          <p:cNvSpPr txBox="1"/>
          <p:nvPr/>
        </p:nvSpPr>
        <p:spPr>
          <a:xfrm>
            <a:off x="4983480" y="4983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Integration</a:t>
            </a:r>
            <a:endParaRPr lang="en-US" sz="1400" dirty="0"/>
          </a:p>
        </p:txBody>
      </p:sp>
      <p:sp>
        <p:nvSpPr>
          <p:cNvPr id="21" name="Anim 325"/>
          <p:cNvSpPr txBox="1"/>
          <p:nvPr/>
        </p:nvSpPr>
        <p:spPr>
          <a:xfrm>
            <a:off x="9294876" y="1783080"/>
            <a:ext cx="10972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FUTURE</a:t>
            </a:r>
            <a:endParaRPr lang="en-US" sz="1400" dirty="0"/>
          </a:p>
        </p:txBody>
      </p:sp>
      <p:sp>
        <p:nvSpPr>
          <p:cNvPr id="22" name="Anim 326"/>
          <p:cNvSpPr/>
          <p:nvPr/>
        </p:nvSpPr>
        <p:spPr>
          <a:xfrm>
            <a:off x="9688068" y="2176272"/>
            <a:ext cx="310896" cy="310896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5"/>
            </a:solidFill>
            <a:prstDash val="solid"/>
          </a:ln>
        </p:spPr>
      </p:sp>
      <p:sp>
        <p:nvSpPr>
          <p:cNvPr id="23" name="Anim 327"/>
          <p:cNvSpPr/>
          <p:nvPr/>
        </p:nvSpPr>
        <p:spPr>
          <a:xfrm>
            <a:off x="8046720" y="2834640"/>
            <a:ext cx="3593592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Anim 328"/>
          <p:cNvSpPr txBox="1"/>
          <p:nvPr/>
        </p:nvSpPr>
        <p:spPr>
          <a:xfrm>
            <a:off x="8275320" y="30175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Future Vision</a:t>
            </a:r>
            <a:endParaRPr lang="en-US" sz="2200" dirty="0"/>
          </a:p>
        </p:txBody>
      </p:sp>
      <p:sp>
        <p:nvSpPr>
          <p:cNvPr id="25" name="Anim 329"/>
          <p:cNvSpPr txBox="1"/>
          <p:nvPr/>
        </p:nvSpPr>
        <p:spPr>
          <a:xfrm>
            <a:off x="8275320" y="3566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Automated integration with radar telemetry and satellite emergency beacon feeds.</a:t>
            </a:r>
            <a:endParaRPr lang="en-US" sz="1600" dirty="0"/>
          </a:p>
        </p:txBody>
      </p:sp>
      <p:sp>
        <p:nvSpPr>
          <p:cNvPr id="26" name="Anim 330"/>
          <p:cNvSpPr/>
          <p:nvPr/>
        </p:nvSpPr>
        <p:spPr>
          <a:xfrm>
            <a:off x="8275320" y="4983480"/>
            <a:ext cx="1463040" cy="411480"/>
          </a:xfrm>
          <a:prstGeom prst="roundRect">
            <a:avLst>
              <a:gd name="adj" fmla="val 48889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7" name="Anim 33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5093208"/>
            <a:ext cx="192024" cy="192024"/>
          </a:xfrm>
          <a:prstGeom prst="rect">
            <a:avLst/>
          </a:prstGeom>
        </p:spPr>
      </p:pic>
      <p:sp>
        <p:nvSpPr>
          <p:cNvPr id="28" name="Anim 332"/>
          <p:cNvSpPr txBox="1"/>
          <p:nvPr/>
        </p:nvSpPr>
        <p:spPr>
          <a:xfrm>
            <a:off x="8732520" y="4983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Vision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333"/>
          <p:cNvSpPr/>
          <p:nvPr/>
        </p:nvSpPr>
        <p:spPr>
          <a:xfrm>
            <a:off x="6903720" y="1097280"/>
            <a:ext cx="4663440" cy="4663440"/>
          </a:xfrm>
          <a:prstGeom prst="ellipse">
            <a:avLst/>
          </a:prstGeom>
          <a:solidFill>
            <a:schemeClr val="accent4">
              <a:alpha val="6000"/>
            </a:schemeClr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3" name="Anim 334"/>
          <p:cNvSpPr/>
          <p:nvPr/>
        </p:nvSpPr>
        <p:spPr>
          <a:xfrm>
            <a:off x="7680960" y="1874520"/>
            <a:ext cx="3108960" cy="3108960"/>
          </a:xfrm>
          <a:prstGeom prst="ellipse">
            <a:avLst/>
          </a:prstGeom>
          <a:solidFill>
            <a:schemeClr val="accent4">
              <a:alpha val="10000"/>
            </a:schemeClr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4" name="Anim 335"/>
          <p:cNvSpPr/>
          <p:nvPr/>
        </p:nvSpPr>
        <p:spPr>
          <a:xfrm>
            <a:off x="8458200" y="2651760"/>
            <a:ext cx="1554480" cy="1554480"/>
          </a:xfrm>
          <a:prstGeom prst="ellipse">
            <a:avLst/>
          </a:prstGeom>
          <a:solidFill>
            <a:schemeClr val="accent4">
              <a:alpha val="15000"/>
            </a:schemeClr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" name="Anim 336"/>
          <p:cNvSpPr/>
          <p:nvPr/>
        </p:nvSpPr>
        <p:spPr>
          <a:xfrm>
            <a:off x="9107424" y="3300984"/>
            <a:ext cx="256032" cy="25603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Anim 337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09  CONCLUSION &amp; Q&amp;A</a:t>
            </a:r>
            <a:endParaRPr lang="en-US" sz="1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731520" y="16916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chemeClr val="tx1"/>
                </a:solidFill>
              </a:rPr>
              <a:t>Saving Lives</a:t>
            </a:r>
            <a:endParaRPr lang="en-US" sz="3400" dirty="0"/>
          </a:p>
          <a:p>
            <a:pPr algn="l" indent="0" marL="0">
              <a:buNone/>
            </a:pPr>
            <a:r>
              <a:rPr lang="en-US" sz="5800" b="1" dirty="0">
                <a:solidFill>
                  <a:schemeClr val="accent1"/>
                </a:solidFill>
              </a:rPr>
              <a:t>Through Code</a:t>
            </a:r>
            <a:endParaRPr lang="en-US" sz="34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731520" y="379476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Let's build the tool that brings them home.</a:t>
            </a:r>
            <a:endParaRPr lang="en-US" sz="2000" dirty="0"/>
          </a:p>
        </p:txBody>
      </p:sp>
      <p:pic>
        <p:nvPicPr>
          <p:cNvPr id="9" name="Anim 34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74920"/>
            <a:ext cx="329184" cy="329184"/>
          </a:xfrm>
          <a:prstGeom prst="rect">
            <a:avLst/>
          </a:prstGeom>
        </p:spPr>
      </p:pic>
      <p:sp>
        <p:nvSpPr>
          <p:cNvPr id="10" name="Anim 341"/>
          <p:cNvSpPr txBox="1"/>
          <p:nvPr/>
        </p:nvSpPr>
        <p:spPr>
          <a:xfrm>
            <a:off x="1234440" y="50474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Open for questions and technical deep dives</a:t>
            </a:r>
            <a:endParaRPr lang="en-US" sz="1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eroSAR Night Ops">
  <a:themeElements>
    <a:clrScheme name="AeroSAR Night Ops">
      <a:dk1>
        <a:srgbClr val="E8F0FA"/>
      </a:dk1>
      <a:lt1>
        <a:srgbClr val="040A16"/>
      </a:lt1>
      <a:dk2>
        <a:srgbClr val="8FA3BF"/>
      </a:dk2>
      <a:lt2>
        <a:srgbClr val="0D1B33"/>
      </a:lt2>
      <a:accent1>
        <a:srgbClr val="38BDF8"/>
      </a:accent1>
      <a:accent2>
        <a:srgbClr val="F5A524"/>
      </a:accent2>
      <a:accent3>
        <a:srgbClr val="F43F5E"/>
      </a:accent3>
      <a:accent4>
        <a:srgbClr val="34D399"/>
      </a:accent4>
      <a:accent5>
        <a:srgbClr val="818CF8"/>
      </a:accent5>
      <a:accent6>
        <a:srgbClr val="1E3A5F"/>
      </a:accent6>
      <a:hlink>
        <a:srgbClr val="38BDF8"/>
      </a:hlink>
      <a:folHlink>
        <a:srgbClr val="818CF8"/>
      </a:folHlink>
    </a:clrScheme>
    <a:fontScheme name="AeroSAR Night Op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AeroSAR — Algorithmic Search &amp; Rescue</dc:title>
  <dc:subject>PptxGenJS Presentation</dc:subject>
  <dc:creator>AeroSAR</dc:creator>
  <cp:lastModifiedBy>AeroSAR</cp:lastModifiedBy>
  <cp:revision>1</cp:revision>
  <dcterms:created xsi:type="dcterms:W3CDTF">2026-10-10T00:36:33Z</dcterms:created>
  <dcterms:modified xsi:type="dcterms:W3CDTF">2026-10-10T00:36:33Z</dcterms:modified>
</cp:coreProperties>
</file>